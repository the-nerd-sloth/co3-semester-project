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GB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EDACC62-D2D7-47E4-B36C-A484761FD6E2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5800FE-A1A8-41A4-B783-50D3016FACF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701472-C6CA-4D38-A865-96B6542059B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78D63A-056D-4603-A223-155E5B5A20B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D0F303-DBF3-46D2-9F7D-1C4CC5CDB2C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5C25F5-003D-4B3C-9571-C8DFCAC02A8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GB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GB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GB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GB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85800" y="30002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 1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685800" y="2074320"/>
            <a:ext cx="61542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3149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21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Optimizing distribution of drinking water in remote areas in Nepal</a:t>
            </a:r>
            <a:endParaRPr b="0" lang="en-GB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685800" y="3143160"/>
            <a:ext cx="61542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CO3: Optimisation and Bio-Inspired Algorithms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685800" y="4332600"/>
            <a:ext cx="6874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137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43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Biner Nicolas, Giacomelli Robin, Giora Triantafyllia, Margomenos Spyridon</a:t>
            </a:r>
            <a:endParaRPr b="1" lang="en-GB" sz="14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37"/>
              </a:lnSpc>
              <a:tabLst>
                <a:tab algn="l" pos="0"/>
              </a:tabLst>
            </a:pPr>
            <a:r>
              <a:rPr b="0" lang="en-US" sz="143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April 2, 2026</a:t>
            </a:r>
            <a:endParaRPr b="0" lang="en-GB" sz="14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1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685800" y="857160"/>
            <a:ext cx="1628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3149"/>
              </a:lnSpc>
              <a:tabLst>
                <a:tab algn="l" pos="0"/>
              </a:tabLst>
            </a:pPr>
            <a:r>
              <a:rPr b="0" lang="en-US" sz="21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Section title</a:t>
            </a:r>
            <a:endParaRPr b="0" lang="en-GB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685800" y="1666800"/>
            <a:ext cx="9334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ts val="2392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6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First bullet point</a:t>
            </a:r>
            <a:endParaRPr b="0" lang="en-GB" sz="16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392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6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Second bullet point</a:t>
            </a:r>
            <a:endParaRPr b="0" lang="en-GB" sz="16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392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6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Third bullet point</a:t>
            </a:r>
            <a:endParaRPr b="0" lang="en-GB" sz="16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1"/>
          <p:cNvSpPr/>
          <p:nvPr/>
        </p:nvSpPr>
        <p:spPr>
          <a:xfrm>
            <a:off x="685800" y="1809720"/>
            <a:ext cx="4952520" cy="247608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28600" rIns="228600" tIns="228600" bIns="22860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Left content box</a:t>
            </a:r>
            <a:endParaRPr b="0" lang="en-GB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6019920" y="1809720"/>
            <a:ext cx="4952520" cy="247608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28600" rIns="228600" tIns="228600" bIns="22860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Right content box</a:t>
            </a:r>
            <a:endParaRPr b="0" lang="en-GB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685800" y="857160"/>
            <a:ext cx="1699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3149"/>
              </a:lnSpc>
              <a:tabLst>
                <a:tab algn="l" pos="0"/>
              </a:tabLst>
            </a:pPr>
            <a:r>
              <a:rPr b="0" lang="en-US" sz="21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Content title</a:t>
            </a:r>
            <a:endParaRPr b="0" lang="en-GB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685800" y="133344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1"/>
          <p:cNvSpPr/>
          <p:nvPr/>
        </p:nvSpPr>
        <p:spPr>
          <a:xfrm>
            <a:off x="68580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 2"/>
          <p:cNvSpPr/>
          <p:nvPr/>
        </p:nvSpPr>
        <p:spPr>
          <a:xfrm>
            <a:off x="420372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3"/>
          <p:cNvSpPr/>
          <p:nvPr/>
        </p:nvSpPr>
        <p:spPr>
          <a:xfrm>
            <a:off x="7721640" y="2000160"/>
            <a:ext cx="3250800" cy="2095200"/>
          </a:xfrm>
          <a:prstGeom prst="rect">
            <a:avLst/>
          </a:prstGeom>
          <a:noFill/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Text 4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685800" y="857160"/>
            <a:ext cx="16002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3149"/>
              </a:lnSpc>
              <a:tabLst>
                <a:tab algn="l" pos="0"/>
              </a:tabLst>
            </a:pPr>
            <a:r>
              <a:rPr b="0" lang="en-US" sz="21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Results title</a:t>
            </a:r>
            <a:endParaRPr b="0" lang="en-GB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933480" y="2247840"/>
            <a:ext cx="28105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6075"/>
              </a:lnSpc>
              <a:tabLst>
                <a:tab algn="l" pos="0"/>
              </a:tabLst>
            </a:pPr>
            <a:r>
              <a:rPr b="1" lang="en-US" sz="40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01</a:t>
            </a:r>
            <a:endParaRPr b="0" lang="en-GB" sz="4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933480" y="3095640"/>
            <a:ext cx="28105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75"/>
              </a:lnSpc>
              <a:tabLst>
                <a:tab algn="l" pos="0"/>
              </a:tabLst>
            </a:pPr>
            <a:r>
              <a:rPr b="0" lang="en-US" sz="16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one</a:t>
            </a:r>
            <a:endParaRPr b="0" lang="en-GB" sz="16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8"/>
          <p:cNvSpPr/>
          <p:nvPr/>
        </p:nvSpPr>
        <p:spPr>
          <a:xfrm>
            <a:off x="4451400" y="2247840"/>
            <a:ext cx="28105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6075"/>
              </a:lnSpc>
              <a:tabLst>
                <a:tab algn="l" pos="0"/>
              </a:tabLst>
            </a:pPr>
            <a:r>
              <a:rPr b="1" lang="en-US" sz="40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02</a:t>
            </a:r>
            <a:endParaRPr b="0" lang="en-GB" sz="4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/>
          <p:cNvSpPr/>
          <p:nvPr/>
        </p:nvSpPr>
        <p:spPr>
          <a:xfrm>
            <a:off x="4451400" y="3095640"/>
            <a:ext cx="28105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75"/>
              </a:lnSpc>
              <a:tabLst>
                <a:tab algn="l" pos="0"/>
              </a:tabLst>
            </a:pPr>
            <a:r>
              <a:rPr b="0" lang="en-US" sz="16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two</a:t>
            </a:r>
            <a:endParaRPr b="0" lang="en-GB" sz="16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0"/>
          <p:cNvSpPr/>
          <p:nvPr/>
        </p:nvSpPr>
        <p:spPr>
          <a:xfrm>
            <a:off x="7969320" y="2247840"/>
            <a:ext cx="281088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6075"/>
              </a:lnSpc>
              <a:tabLst>
                <a:tab algn="l" pos="0"/>
              </a:tabLst>
            </a:pPr>
            <a:r>
              <a:rPr b="1" lang="en-US" sz="40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03</a:t>
            </a:r>
            <a:endParaRPr b="0" lang="en-GB" sz="4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1"/>
          <p:cNvSpPr/>
          <p:nvPr/>
        </p:nvSpPr>
        <p:spPr>
          <a:xfrm>
            <a:off x="7969320" y="3095640"/>
            <a:ext cx="2810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475"/>
              </a:lnSpc>
              <a:tabLst>
                <a:tab algn="l" pos="0"/>
              </a:tabLst>
            </a:pPr>
            <a:r>
              <a:rPr b="0" lang="en-US" sz="16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Metric three</a:t>
            </a:r>
            <a:endParaRPr b="0" lang="en-GB" sz="16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b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685800" y="3114720"/>
            <a:ext cx="6190920" cy="3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Text 1"/>
          <p:cNvSpPr/>
          <p:nvPr/>
        </p:nvSpPr>
        <p:spPr>
          <a:xfrm>
            <a:off x="7493040" y="361800"/>
            <a:ext cx="1098360" cy="12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zh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4915"/>
              </a:lnSpc>
              <a:tabLst>
                <a:tab algn="l" pos="0"/>
              </a:tabLst>
            </a:pPr>
            <a:r>
              <a:rPr b="1" lang="en-US" sz="585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aw</a:t>
            </a:r>
            <a:endParaRPr b="0" lang="en-GB" sz="5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685800" y="2476440"/>
            <a:ext cx="1358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3149"/>
              </a:lnSpc>
              <a:tabLst>
                <a:tab algn="l" pos="0"/>
              </a:tabLst>
            </a:pPr>
            <a:r>
              <a:rPr b="0" lang="en-US" sz="21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Questions</a:t>
            </a:r>
            <a:endParaRPr b="0" lang="en-GB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85800" y="3267000"/>
            <a:ext cx="12182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Thank you</a:t>
            </a: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LibreOffice/25.2.7.2$Linux_X86_64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2026-04-01T19:15:37Z</dcterms:created>
  <dc:creator>Perplexity</dc:creator>
  <dc:description/>
  <dc:language>en-GB</dc:language>
  <cp:lastModifiedBy/>
  <dcterms:modified xsi:type="dcterms:W3CDTF">2026-04-01T21:24:59Z</dcterms:modified>
  <cp:revision>2</cp:revision>
  <dc:subject>PptxGenJS Presentation</dc:subject>
  <dc:title>Converted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