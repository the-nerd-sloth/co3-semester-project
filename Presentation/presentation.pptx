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1" r:id="rId9"/>
    <p:sldId id="262" r:id="rId10"/>
    <p:sldId id="263" r:id="rId11"/>
    <p:sldId id="260" r:id="rId12"/>
  </p:sldIdLst>
  <p:sldSz cx="9144000" cy="5143500" type="screen16x9"/>
  <p:notesSz cx="51435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C2E89F-893E-4422-3D80-EC24371BBDEE}" v="715" dt="2026-04-01T21:00:46.362"/>
    <p1510:client id="{F1A4819E-55D9-4223-A6F2-1D6D816F0F24}" v="374" dt="2026-04-01T20:26:36.6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EDACC62-D2D7-47E4-B36C-A484761FD6E2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5800FE-A1A8-41A4-B783-50D3016FAC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701472-C6CA-4D38-A865-96B6542059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78D63A-056D-4603-A223-155E5B5A20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D0F303-DBF3-46D2-9F7D-1C4CC5CDB2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01B85-2D75-B6C4-1513-AB9641901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>
            <a:extLst>
              <a:ext uri="{FF2B5EF4-FFF2-40B4-BE49-F238E27FC236}">
                <a16:creationId xmlns:a16="http://schemas.microsoft.com/office/drawing/2014/main" id="{09B15FB4-3374-7E62-BD78-EC1807045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" name="PlaceHolder 2">
            <a:extLst>
              <a:ext uri="{FF2B5EF4-FFF2-40B4-BE49-F238E27FC236}">
                <a16:creationId xmlns:a16="http://schemas.microsoft.com/office/drawing/2014/main" id="{D041900C-27F7-BFE7-D9E5-69BBD5F9EC5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>
            <a:extLst>
              <a:ext uri="{FF2B5EF4-FFF2-40B4-BE49-F238E27FC236}">
                <a16:creationId xmlns:a16="http://schemas.microsoft.com/office/drawing/2014/main" id="{8F0A0457-8549-FD91-E518-DC0FC1A1DC70}"/>
              </a:ext>
            </a:extLst>
          </p:cNvPr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D0F303-DBF3-46D2-9F7D-1C4CC5CDB2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3330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C8CE6-C0B7-E060-657F-BBF43AC91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>
            <a:extLst>
              <a:ext uri="{FF2B5EF4-FFF2-40B4-BE49-F238E27FC236}">
                <a16:creationId xmlns:a16="http://schemas.microsoft.com/office/drawing/2014/main" id="{18512910-0E41-61B6-50E9-CCECFF84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" name="PlaceHolder 2">
            <a:extLst>
              <a:ext uri="{FF2B5EF4-FFF2-40B4-BE49-F238E27FC236}">
                <a16:creationId xmlns:a16="http://schemas.microsoft.com/office/drawing/2014/main" id="{C672276B-CAA8-2F65-EBAF-1F7C594084D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>
            <a:extLst>
              <a:ext uri="{FF2B5EF4-FFF2-40B4-BE49-F238E27FC236}">
                <a16:creationId xmlns:a16="http://schemas.microsoft.com/office/drawing/2014/main" id="{F2BA5712-D01B-110D-D49A-7D1E796A2BD9}"/>
              </a:ext>
            </a:extLst>
          </p:cNvPr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D0F303-DBF3-46D2-9F7D-1C4CC5CDB2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885543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1A88A-41F3-6D10-4178-BF82EDC5F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>
            <a:extLst>
              <a:ext uri="{FF2B5EF4-FFF2-40B4-BE49-F238E27FC236}">
                <a16:creationId xmlns:a16="http://schemas.microsoft.com/office/drawing/2014/main" id="{00EFB5BE-9528-AA2F-94DE-8873A21E1E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" name="PlaceHolder 2">
            <a:extLst>
              <a:ext uri="{FF2B5EF4-FFF2-40B4-BE49-F238E27FC236}">
                <a16:creationId xmlns:a16="http://schemas.microsoft.com/office/drawing/2014/main" id="{882F6AA0-7E9C-930F-03EA-C24FDC7C2F8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>
            <a:extLst>
              <a:ext uri="{FF2B5EF4-FFF2-40B4-BE49-F238E27FC236}">
                <a16:creationId xmlns:a16="http://schemas.microsoft.com/office/drawing/2014/main" id="{2E119531-952A-9FB9-4B31-1759DFF92B8D}"/>
              </a:ext>
            </a:extLst>
          </p:cNvPr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D0F303-DBF3-46D2-9F7D-1C4CC5CDB2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909259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5C25F5-003D-4B3C-9571-C8DFCAC02A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85800" y="30002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 1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685800" y="2074320"/>
            <a:ext cx="615420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3149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Optimizing distribution of drinking water in remote </a:t>
            </a: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areas </a:t>
            </a:r>
            <a:r>
              <a:rPr lang="en-US" sz="2100">
                <a:solidFill>
                  <a:srgbClr val="FFFFFF"/>
                </a:solidFill>
                <a:latin typeface="Arial"/>
                <a:ea typeface="Arial"/>
              </a:rPr>
              <a:t>of Nepal</a:t>
            </a:r>
            <a:endParaRPr lang="en-GB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685800" y="3143160"/>
            <a:ext cx="615420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37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dirty="0">
                <a:solidFill>
                  <a:srgbClr val="FFFFFF"/>
                </a:solidFill>
                <a:latin typeface="Arial"/>
              </a:rPr>
              <a:t>Biner Nicolas, Giacomelli Robin, Giora </a:t>
            </a:r>
            <a:r>
              <a:rPr lang="en-US" sz="1400" dirty="0" err="1">
                <a:solidFill>
                  <a:srgbClr val="FFFFFF"/>
                </a:solidFill>
                <a:latin typeface="Arial"/>
              </a:rPr>
              <a:t>Triantafyllia</a:t>
            </a:r>
            <a:r>
              <a:rPr lang="en-US" sz="1400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1400" dirty="0" err="1">
                <a:solidFill>
                  <a:srgbClr val="FFFFFF"/>
                </a:solidFill>
                <a:latin typeface="Arial"/>
              </a:rPr>
              <a:t>Margomenos</a:t>
            </a:r>
            <a:r>
              <a:rPr lang="en-US" sz="1400" dirty="0">
                <a:solidFill>
                  <a:srgbClr val="FFFFFF"/>
                </a:solidFill>
                <a:latin typeface="Arial"/>
              </a:rPr>
              <a:t> Spyridon</a:t>
            </a:r>
          </a:p>
        </p:txBody>
      </p:sp>
      <p:sp>
        <p:nvSpPr>
          <p:cNvPr id="12" name="Text 4"/>
          <p:cNvSpPr/>
          <p:nvPr/>
        </p:nvSpPr>
        <p:spPr>
          <a:xfrm>
            <a:off x="685800" y="4672265"/>
            <a:ext cx="68742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137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April 2, 2026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1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685800" y="857160"/>
            <a:ext cx="2620677" cy="415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3149"/>
              </a:lnSpc>
              <a:tabLst>
                <a:tab pos="0" algn="l"/>
              </a:tabLst>
            </a:pPr>
            <a:r>
              <a:rPr lang="en-US" sz="2100">
                <a:solidFill>
                  <a:srgbClr val="FFFFFF"/>
                </a:solidFill>
                <a:ea typeface="+mn-lt"/>
                <a:cs typeface="+mn-lt"/>
              </a:rPr>
              <a:t>Table of Contents</a:t>
            </a: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358DBB-CE38-0EFB-9437-1D75DFA18FF5}"/>
              </a:ext>
            </a:extLst>
          </p:cNvPr>
          <p:cNvSpPr/>
          <p:nvPr/>
        </p:nvSpPr>
        <p:spPr>
          <a:xfrm>
            <a:off x="-1" y="1719891"/>
            <a:ext cx="9146699" cy="34343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3"/>
          <p:cNvSpPr/>
          <p:nvPr/>
        </p:nvSpPr>
        <p:spPr>
          <a:xfrm>
            <a:off x="685800" y="2157427"/>
            <a:ext cx="6266312" cy="121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+mn-lt"/>
                <a:cs typeface="+mn-lt"/>
              </a:rPr>
              <a:t>Problem Formulation</a:t>
            </a: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+mn-lt"/>
                <a:cs typeface="+mn-lt"/>
              </a:rPr>
              <a:t>The Lagrange Approach</a:t>
            </a: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+mn-lt"/>
                <a:cs typeface="+mn-lt"/>
              </a:rPr>
              <a:t>Simulated Annealing</a:t>
            </a: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+mn-lt"/>
                <a:cs typeface="+mn-lt"/>
              </a:rPr>
              <a:t>Method Comparison</a:t>
            </a: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 defTabSz="914400">
              <a:lnSpc>
                <a:spcPts val="2392"/>
              </a:lnSpc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+mn-lt"/>
                <a:cs typeface="+mn-lt"/>
              </a:rPr>
              <a:t>Q&amp;A</a:t>
            </a: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C0C21FE-AC15-8042-C3D8-1778AB87BF4C}"/>
              </a:ext>
            </a:extLst>
          </p:cNvPr>
          <p:cNvSpPr/>
          <p:nvPr/>
        </p:nvSpPr>
        <p:spPr>
          <a:xfrm>
            <a:off x="-1" y="1719891"/>
            <a:ext cx="9146699" cy="34343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0"/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1"/>
          <p:cNvSpPr/>
          <p:nvPr/>
        </p:nvSpPr>
        <p:spPr>
          <a:xfrm>
            <a:off x="685800" y="1809720"/>
            <a:ext cx="6419010" cy="2955924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28600" tIns="228600" rIns="228600" bIns="228600"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1500" dirty="0">
                <a:solidFill>
                  <a:schemeClr val="accent1"/>
                </a:solidFill>
                <a:latin typeface="Arial"/>
                <a:cs typeface="Arial"/>
              </a:rPr>
              <a:t>Goal: Distribute </a:t>
            </a:r>
            <a:r>
              <a:rPr lang="en-US" sz="1500">
                <a:solidFill>
                  <a:schemeClr val="accent1"/>
                </a:solidFill>
                <a:latin typeface="Arial"/>
                <a:cs typeface="Arial"/>
              </a:rPr>
              <a:t>drinking</a:t>
            </a:r>
            <a:r>
              <a:rPr lang="en-US" sz="1500" dirty="0">
                <a:solidFill>
                  <a:schemeClr val="accent1"/>
                </a:solidFill>
                <a:latin typeface="Arial"/>
                <a:cs typeface="Arial"/>
              </a:rPr>
              <a:t> water supply in remote areas of Nepal</a:t>
            </a:r>
          </a:p>
          <a:p>
            <a:pPr>
              <a:tabLst>
                <a:tab pos="0" algn="l"/>
              </a:tabLst>
            </a:pP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  <a:p>
            <a:pPr>
              <a:tabLst>
                <a:tab pos="0" algn="l"/>
              </a:tabLst>
            </a:pPr>
            <a:r>
              <a:rPr lang="en-US" sz="1500" dirty="0">
                <a:solidFill>
                  <a:schemeClr val="accent1"/>
                </a:solidFill>
                <a:latin typeface="Arial"/>
                <a:cs typeface="Arial"/>
              </a:rPr>
              <a:t>Restrictions: </a:t>
            </a:r>
          </a:p>
          <a:p>
            <a:pPr marL="1200150" lvl="2" indent="-285750">
              <a:buFont typeface="Wingdings"/>
              <a:buChar char="§"/>
              <a:tabLst>
                <a:tab pos="0" algn="l"/>
              </a:tabLst>
            </a:pPr>
            <a:r>
              <a:rPr lang="en-US" sz="1500">
                <a:solidFill>
                  <a:schemeClr val="accent1"/>
                </a:solidFill>
                <a:latin typeface="Arial"/>
                <a:cs typeface="Arial"/>
              </a:rPr>
              <a:t>All houses must have some minimum access to water</a:t>
            </a:r>
          </a:p>
          <a:p>
            <a:pPr marL="1200150" lvl="2" indent="-285750">
              <a:buFont typeface="Wingdings"/>
              <a:buChar char="§"/>
              <a:tabLst>
                <a:tab pos="0" algn="l"/>
              </a:tabLst>
            </a:pPr>
            <a:r>
              <a:rPr lang="en-US" sz="1500">
                <a:solidFill>
                  <a:schemeClr val="accent1"/>
                </a:solidFill>
                <a:latin typeface="Arial"/>
                <a:cs typeface="Arial"/>
              </a:rPr>
              <a:t>Water amount must be proportional to their needs</a:t>
            </a: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  <a:p>
            <a:pPr marL="1200150" lvl="2" indent="-285750">
              <a:buFont typeface="Wingdings"/>
              <a:buChar char="§"/>
              <a:tabLst>
                <a:tab pos="0" algn="l"/>
              </a:tabLst>
            </a:pPr>
            <a:r>
              <a:rPr lang="en-US" sz="1500">
                <a:solidFill>
                  <a:schemeClr val="accent1"/>
                </a:solidFill>
                <a:latin typeface="Arial"/>
                <a:cs typeface="Arial"/>
              </a:rPr>
              <a:t>There are losses due to the terrain/pipe quality</a:t>
            </a:r>
          </a:p>
          <a:p>
            <a:pPr marL="1200150" lvl="2" indent="-285750">
              <a:buFont typeface="Wingdings"/>
              <a:buChar char="§"/>
              <a:tabLst>
                <a:tab pos="0" algn="l"/>
              </a:tabLst>
            </a:pP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  <a:p>
            <a:pPr>
              <a:tabLst>
                <a:tab pos="0" algn="l"/>
              </a:tabLst>
            </a:pPr>
            <a:r>
              <a:rPr lang="en-US" sz="1500">
                <a:solidFill>
                  <a:schemeClr val="accent1"/>
                </a:solidFill>
                <a:latin typeface="Arial"/>
                <a:cs typeface="Arial"/>
              </a:rPr>
              <a:t>Methods used:</a:t>
            </a: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  <a:p>
            <a:pPr marL="1200150" lvl="2" indent="-285750">
              <a:buFont typeface="Wingdings"/>
              <a:buChar char="§"/>
              <a:tabLst>
                <a:tab pos="0" algn="l"/>
              </a:tabLst>
            </a:pPr>
            <a:r>
              <a:rPr lang="en-US" sz="1500">
                <a:solidFill>
                  <a:schemeClr val="accent1"/>
                </a:solidFill>
                <a:latin typeface="Arial"/>
                <a:cs typeface="Arial"/>
              </a:rPr>
              <a:t>Lagrange</a:t>
            </a:r>
            <a:r>
              <a:rPr lang="en-US" sz="1500" dirty="0">
                <a:solidFill>
                  <a:schemeClr val="accent1"/>
                </a:solidFill>
                <a:latin typeface="Arial"/>
                <a:cs typeface="Arial"/>
              </a:rPr>
              <a:t> Method</a:t>
            </a:r>
          </a:p>
          <a:p>
            <a:pPr marL="1200150" lvl="2" indent="-285750">
              <a:buFont typeface="Wingdings"/>
              <a:buChar char="§"/>
              <a:tabLst>
                <a:tab pos="0" algn="l"/>
              </a:tabLst>
            </a:pPr>
            <a:r>
              <a:rPr lang="en-US" sz="1500">
                <a:solidFill>
                  <a:schemeClr val="accent1"/>
                </a:solidFill>
                <a:latin typeface="Arial"/>
                <a:cs typeface="Arial"/>
              </a:rPr>
              <a:t>Simulated Annealing</a:t>
            </a: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  <a:p>
            <a:pPr marL="1200150" lvl="2" indent="-285750">
              <a:buFont typeface="Wingdings"/>
              <a:buChar char="§"/>
              <a:tabLst>
                <a:tab pos="0" algn="l"/>
              </a:tabLst>
            </a:pP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  <a:p>
            <a:pPr>
              <a:tabLst>
                <a:tab pos="0" algn="l"/>
              </a:tabLst>
            </a:pP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endParaRPr lang="en-US" sz="1500" dirty="0">
              <a:solidFill>
                <a:schemeClr val="accent1"/>
              </a:solidFill>
              <a:latin typeface="Arial"/>
              <a:cs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685800" y="857160"/>
            <a:ext cx="3166410" cy="415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3149"/>
              </a:lnSpc>
              <a:tabLst>
                <a:tab pos="0" algn="l"/>
              </a:tabLst>
            </a:pPr>
            <a:r>
              <a:rPr lang="en-US" sz="2100">
                <a:solidFill>
                  <a:srgbClr val="FFFFFF"/>
                </a:solidFill>
                <a:latin typeface="Arial"/>
              </a:rPr>
              <a:t>Problem Formulation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0D2061-A89B-486F-A4BC-B38974C6212A}"/>
              </a:ext>
            </a:extLst>
          </p:cNvPr>
          <p:cNvSpPr/>
          <p:nvPr/>
        </p:nvSpPr>
        <p:spPr>
          <a:xfrm>
            <a:off x="-1" y="1719891"/>
            <a:ext cx="9146699" cy="34343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0"/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4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685800" y="857160"/>
            <a:ext cx="2094643" cy="4252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3149"/>
              </a:lnSpc>
              <a:tabLst>
                <a:tab pos="0" algn="l"/>
              </a:tabLst>
            </a:pPr>
            <a:r>
              <a:rPr lang="en-US" sz="2100">
                <a:solidFill>
                  <a:srgbClr val="FFFFFF"/>
                </a:solidFill>
                <a:latin typeface="Arial"/>
              </a:rPr>
              <a:t>Lagrange Method</a:t>
            </a:r>
            <a:endParaRPr lang="en-GB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B073619-DD9F-B682-7EA6-0A588B48114B}"/>
              </a:ext>
            </a:extLst>
          </p:cNvPr>
          <p:cNvSpPr/>
          <p:nvPr/>
        </p:nvSpPr>
        <p:spPr>
          <a:xfrm>
            <a:off x="685800" y="2157427"/>
            <a:ext cx="6266312" cy="28978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r>
              <a:rPr lang="en-US" sz="1650" b="1" i="1" dirty="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a</a:t>
            </a:r>
            <a:r>
              <a:rPr lang="en-US" sz="1650" i="1" dirty="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  </a:t>
            </a:r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: delivery-loss factor</a:t>
            </a:r>
            <a:endParaRPr lang="en-US" sz="1650" dirty="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1650" b="1" i="1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b</a:t>
            </a:r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  : the smallest required amount of water per household</a:t>
            </a:r>
            <a:endParaRPr lang="en-US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1650" b="1" i="1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d</a:t>
            </a:r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  : demand per household</a:t>
            </a:r>
          </a:p>
          <a:p>
            <a:r>
              <a:rPr lang="en-US" sz="1650" b="1" i="1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w</a:t>
            </a:r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 : house priority/vulnerability factor</a:t>
            </a:r>
            <a:endParaRPr lang="en-US" sz="1650" dirty="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1650" b="1" i="1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S</a:t>
            </a:r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  : total available water supply</a:t>
            </a:r>
            <a:endParaRPr lang="en-US" sz="1650" dirty="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n-US" sz="1650" dirty="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1650" dirty="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Objective function:</a:t>
            </a:r>
            <a:endParaRPr lang="en-US" sz="1650" baseline="30000" dirty="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Restrictions:    </a:t>
            </a:r>
          </a:p>
          <a:p>
            <a:endParaRPr lang="en-US" sz="1650" dirty="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endParaRPr lang="en-US" sz="1650" dirty="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740574-6A66-5193-A369-96DC719CD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383" y="3675302"/>
            <a:ext cx="1504950" cy="219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846FEB-415C-AC74-9F12-4743E327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121" y="3969320"/>
            <a:ext cx="285750" cy="180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9DE424-2D24-FC14-C80E-E0CC9B05A2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5832" y="3969320"/>
            <a:ext cx="695325" cy="1809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F55A27-09FF-AE1C-F847-5C9F5F7528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3326" y="3969319"/>
            <a:ext cx="314325" cy="1809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7D6457-FDF9-602B-8A13-AA8A3F1AE7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7714" y="3969320"/>
            <a:ext cx="285750" cy="1809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2748FFA-81B5-E93F-8FAB-2BAD17DFE2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696" y="3969320"/>
            <a:ext cx="47625" cy="1809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2AABF8C-D88D-C081-964B-2440E4E5BD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8319" y="3969320"/>
            <a:ext cx="47625" cy="1809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9BF23F-3C0F-5706-4DCA-AF0F7D25D2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7290" y="3969320"/>
            <a:ext cx="47625" cy="180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30EEAE-BADB-096E-4CC5-A379C3E9A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>
            <a:extLst>
              <a:ext uri="{FF2B5EF4-FFF2-40B4-BE49-F238E27FC236}">
                <a16:creationId xmlns:a16="http://schemas.microsoft.com/office/drawing/2014/main" id="{FD96C2F0-8368-CE83-C0A3-7EAD2369C69A}"/>
              </a:ext>
            </a:extLst>
          </p:cNvPr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51179520-55AF-358C-56C4-2B28E73363D2}"/>
              </a:ext>
            </a:extLst>
          </p:cNvPr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CBC8AFD6-334D-8EBF-50E6-6C97AD786544}"/>
              </a:ext>
            </a:extLst>
          </p:cNvPr>
          <p:cNvSpPr/>
          <p:nvPr/>
        </p:nvSpPr>
        <p:spPr>
          <a:xfrm>
            <a:off x="685800" y="857160"/>
            <a:ext cx="2775305" cy="4252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3149"/>
              </a:lnSpc>
              <a:tabLst>
                <a:tab pos="0" algn="l"/>
              </a:tabLst>
            </a:pPr>
            <a:r>
              <a:rPr lang="en-US" sz="2100">
                <a:solidFill>
                  <a:srgbClr val="FFFFFF"/>
                </a:solidFill>
                <a:latin typeface="Arial"/>
              </a:rPr>
              <a:t>Simulated Annealing</a:t>
            </a:r>
            <a:endParaRPr lang="de-D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79BF79-293B-5877-BCD8-4F92A5E49894}"/>
              </a:ext>
            </a:extLst>
          </p:cNvPr>
          <p:cNvSpPr/>
          <p:nvPr/>
        </p:nvSpPr>
        <p:spPr>
          <a:xfrm>
            <a:off x="-1" y="1719891"/>
            <a:ext cx="9146699" cy="34343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893A168-C920-C510-5438-CB82C0A97D8D}"/>
              </a:ext>
            </a:extLst>
          </p:cNvPr>
          <p:cNvSpPr/>
          <p:nvPr/>
        </p:nvSpPr>
        <p:spPr>
          <a:xfrm>
            <a:off x="685800" y="2157427"/>
            <a:ext cx="6266312" cy="121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+mn-lt"/>
                <a:cs typeface="+mn-lt"/>
              </a:rPr>
              <a:t>"Mimics the physical process of annealing metal"</a:t>
            </a:r>
            <a:endParaRPr lang="en-US" sz="165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n-US" sz="165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Tk = T0 * (1 – k /k max) (with 50'000 Iterations or 20 L per day)</a:t>
            </a:r>
          </a:p>
          <a:p>
            <a:pPr marL="742950" lvl="1" indent="-285750">
              <a:buFont typeface="Courier New,monospace"/>
              <a:buChar char="o"/>
            </a:pPr>
            <a:r>
              <a:rPr lang="en-US" sz="170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Different Distributions</a:t>
            </a:r>
            <a:endParaRPr lang="en-US" sz="17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742950" lvl="1" indent="-285750">
              <a:buFont typeface="Courier New,monospace"/>
              <a:buChar char="o"/>
            </a:pPr>
            <a:r>
              <a:rPr lang="en-US" sz="170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Prioritizing higher vulnerability</a:t>
            </a:r>
            <a:endParaRPr lang="en-US"/>
          </a:p>
          <a:p>
            <a:pPr marL="742950" lvl="1" indent="-285750">
              <a:buFont typeface="Courier New,monospace"/>
              <a:buChar char="o"/>
            </a:pPr>
            <a:endParaRPr lang="en-US" sz="170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650" dirty="0" err="1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ai_xi</a:t>
            </a:r>
            <a:r>
              <a:rPr lang="en-US" sz="1650" dirty="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 = S -&gt; remaining satisfied</a:t>
            </a:r>
          </a:p>
          <a:p>
            <a:pPr marL="285750" indent="-285750">
              <a:buFont typeface="Arial"/>
              <a:buChar char="•"/>
            </a:pPr>
            <a:endParaRPr lang="en-US" sz="165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650">
                <a:solidFill>
                  <a:schemeClr val="accent1"/>
                </a:solidFill>
                <a:ea typeface="Calibri" panose="020F0502020204030204"/>
                <a:cs typeface="Calibri" panose="020F0502020204030204"/>
              </a:rPr>
              <a:t>Exploration High T / low T</a:t>
            </a:r>
          </a:p>
          <a:p>
            <a:pPr marL="285750" indent="-285750">
              <a:buFont typeface="Arial"/>
              <a:buChar char="•"/>
            </a:pPr>
            <a:endParaRPr lang="en-US" sz="165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  <a:p>
            <a:pPr marL="285750" indent="-285750">
              <a:lnSpc>
                <a:spcPts val="2392"/>
              </a:lnSpc>
              <a:buFont typeface="Arial"/>
              <a:buChar char="•"/>
            </a:pPr>
            <a:endParaRPr lang="en-US" sz="1650">
              <a:solidFill>
                <a:schemeClr val="accent1"/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218687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D4D777-9D47-A383-2D2F-3DA8B6CCC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CBAC12-89E7-F9F7-F263-E64D40EAECEF}"/>
              </a:ext>
            </a:extLst>
          </p:cNvPr>
          <p:cNvSpPr/>
          <p:nvPr/>
        </p:nvSpPr>
        <p:spPr>
          <a:xfrm>
            <a:off x="-1" y="1719891"/>
            <a:ext cx="9146699" cy="34343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44F5B726-D956-1C20-2BE0-322B702D86A8}"/>
              </a:ext>
            </a:extLst>
          </p:cNvPr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5B73F405-1E7E-16A1-2229-17634203CAA0}"/>
              </a:ext>
            </a:extLst>
          </p:cNvPr>
          <p:cNvSpPr/>
          <p:nvPr/>
        </p:nvSpPr>
        <p:spPr>
          <a:xfrm>
            <a:off x="685800" y="2000160"/>
            <a:ext cx="3250800" cy="209520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FFD8FB64-034B-B11E-FC9D-D962A8DC0878}"/>
              </a:ext>
            </a:extLst>
          </p:cNvPr>
          <p:cNvSpPr/>
          <p:nvPr/>
        </p:nvSpPr>
        <p:spPr>
          <a:xfrm>
            <a:off x="4203720" y="2000160"/>
            <a:ext cx="3250800" cy="209520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04DA6DE2-557B-9511-55B9-E44C963404B8}"/>
              </a:ext>
            </a:extLst>
          </p:cNvPr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90A56F7E-49CB-1C1E-3080-0C02232D39E2}"/>
              </a:ext>
            </a:extLst>
          </p:cNvPr>
          <p:cNvSpPr/>
          <p:nvPr/>
        </p:nvSpPr>
        <p:spPr>
          <a:xfrm>
            <a:off x="685800" y="857160"/>
            <a:ext cx="2775305" cy="4252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2100">
                <a:solidFill>
                  <a:schemeClr val="bg1"/>
                </a:solidFill>
                <a:latin typeface="Arial"/>
                <a:ea typeface="Calibri"/>
                <a:cs typeface="Arial"/>
              </a:rPr>
              <a:t>Method Comparison</a:t>
            </a:r>
          </a:p>
          <a:p>
            <a:pPr>
              <a:lnSpc>
                <a:spcPts val="3149"/>
              </a:lnSpc>
              <a:tabLst>
                <a:tab pos="0" algn="l"/>
              </a:tabLst>
            </a:pPr>
            <a:endParaRPr lang="en-US" sz="210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A3C1D423-83BC-0823-8AE5-B64034ECFC12}"/>
              </a:ext>
            </a:extLst>
          </p:cNvPr>
          <p:cNvSpPr/>
          <p:nvPr/>
        </p:nvSpPr>
        <p:spPr>
          <a:xfrm>
            <a:off x="933480" y="2247840"/>
            <a:ext cx="2810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6075"/>
              </a:lnSpc>
              <a:tabLst>
                <a:tab pos="0" algn="l"/>
              </a:tabLst>
            </a:pPr>
            <a:r>
              <a:rPr lang="en-US" sz="4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GB" sz="4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D9A580B1-1C96-9BBE-9582-45BA46E937EF}"/>
              </a:ext>
            </a:extLst>
          </p:cNvPr>
          <p:cNvSpPr/>
          <p:nvPr/>
        </p:nvSpPr>
        <p:spPr>
          <a:xfrm>
            <a:off x="933480" y="3095640"/>
            <a:ext cx="2810520" cy="31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475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Metric one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695BA788-89FB-A90E-E59C-C1B5999A3C4C}"/>
              </a:ext>
            </a:extLst>
          </p:cNvPr>
          <p:cNvSpPr/>
          <p:nvPr/>
        </p:nvSpPr>
        <p:spPr>
          <a:xfrm>
            <a:off x="4451400" y="2247840"/>
            <a:ext cx="2810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6075"/>
              </a:lnSpc>
              <a:tabLst>
                <a:tab pos="0" algn="l"/>
              </a:tabLst>
            </a:pPr>
            <a:r>
              <a:rPr lang="en-US" sz="4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GB" sz="4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45CDA467-14D6-8A79-E595-8B8CFC7D321F}"/>
              </a:ext>
            </a:extLst>
          </p:cNvPr>
          <p:cNvSpPr/>
          <p:nvPr/>
        </p:nvSpPr>
        <p:spPr>
          <a:xfrm>
            <a:off x="4451400" y="3095640"/>
            <a:ext cx="2810520" cy="31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475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Metric two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" name="Grafik 1" descr="MethodComparison.png">
            <a:extLst>
              <a:ext uri="{FF2B5EF4-FFF2-40B4-BE49-F238E27FC236}">
                <a16:creationId xmlns:a16="http://schemas.microsoft.com/office/drawing/2014/main" id="{5DE9307D-B3F8-5699-FA25-2F0129073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" y="1742400"/>
            <a:ext cx="9144000" cy="312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554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3A964E-A53D-D833-9A9C-848C7C940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71ABE2B-A058-04ED-E9B9-B53A9AEC0D5B}"/>
              </a:ext>
            </a:extLst>
          </p:cNvPr>
          <p:cNvSpPr/>
          <p:nvPr/>
        </p:nvSpPr>
        <p:spPr>
          <a:xfrm>
            <a:off x="-1" y="1719891"/>
            <a:ext cx="9146699" cy="34343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6383B7FE-338B-AA64-2093-C83A594D84C9}"/>
              </a:ext>
            </a:extLst>
          </p:cNvPr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E88D8E92-FD44-F664-AB6D-1606E5B7008E}"/>
              </a:ext>
            </a:extLst>
          </p:cNvPr>
          <p:cNvSpPr/>
          <p:nvPr/>
        </p:nvSpPr>
        <p:spPr>
          <a:xfrm>
            <a:off x="685800" y="2000160"/>
            <a:ext cx="3250800" cy="209520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C214B53A-9474-D2B6-3DA8-9BE33C5C231B}"/>
              </a:ext>
            </a:extLst>
          </p:cNvPr>
          <p:cNvSpPr/>
          <p:nvPr/>
        </p:nvSpPr>
        <p:spPr>
          <a:xfrm>
            <a:off x="4203720" y="2000160"/>
            <a:ext cx="3250800" cy="209520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70EE4081-FE78-57F6-E5C6-3A84147DB435}"/>
              </a:ext>
            </a:extLst>
          </p:cNvPr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24D8D49B-F11F-31DD-1141-9B78E8436B8E}"/>
              </a:ext>
            </a:extLst>
          </p:cNvPr>
          <p:cNvSpPr/>
          <p:nvPr/>
        </p:nvSpPr>
        <p:spPr>
          <a:xfrm>
            <a:off x="685800" y="857160"/>
            <a:ext cx="2775305" cy="4252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2100">
                <a:solidFill>
                  <a:schemeClr val="bg1"/>
                </a:solidFill>
                <a:latin typeface="Arial"/>
                <a:ea typeface="Calibri"/>
                <a:cs typeface="Arial"/>
              </a:rPr>
              <a:t>Method Comparison</a:t>
            </a:r>
          </a:p>
          <a:p>
            <a:pPr>
              <a:lnSpc>
                <a:spcPts val="3149"/>
              </a:lnSpc>
              <a:tabLst>
                <a:tab pos="0" algn="l"/>
              </a:tabLst>
            </a:pPr>
            <a:endParaRPr lang="en-US" sz="210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DF3A4A6C-E440-00BD-097B-1E9ACF3C9CB4}"/>
              </a:ext>
            </a:extLst>
          </p:cNvPr>
          <p:cNvSpPr/>
          <p:nvPr/>
        </p:nvSpPr>
        <p:spPr>
          <a:xfrm>
            <a:off x="933480" y="2247840"/>
            <a:ext cx="2810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6075"/>
              </a:lnSpc>
              <a:tabLst>
                <a:tab pos="0" algn="l"/>
              </a:tabLst>
            </a:pPr>
            <a:r>
              <a:rPr lang="en-US" sz="4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GB" sz="4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C6493315-CD05-FFE9-72B9-4AC56EB34F0F}"/>
              </a:ext>
            </a:extLst>
          </p:cNvPr>
          <p:cNvSpPr/>
          <p:nvPr/>
        </p:nvSpPr>
        <p:spPr>
          <a:xfrm>
            <a:off x="933480" y="3095640"/>
            <a:ext cx="2810520" cy="31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475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Metric one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DD4062B2-694E-AB29-20F0-172076F3D89B}"/>
              </a:ext>
            </a:extLst>
          </p:cNvPr>
          <p:cNvSpPr/>
          <p:nvPr/>
        </p:nvSpPr>
        <p:spPr>
          <a:xfrm>
            <a:off x="4451400" y="2247840"/>
            <a:ext cx="2810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6075"/>
              </a:lnSpc>
              <a:tabLst>
                <a:tab pos="0" algn="l"/>
              </a:tabLst>
            </a:pPr>
            <a:r>
              <a:rPr lang="en-US" sz="4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GB" sz="4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017150A5-7A28-79BF-918F-208A345A7F75}"/>
              </a:ext>
            </a:extLst>
          </p:cNvPr>
          <p:cNvSpPr/>
          <p:nvPr/>
        </p:nvSpPr>
        <p:spPr>
          <a:xfrm>
            <a:off x="4451400" y="3095640"/>
            <a:ext cx="2810520" cy="31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475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Metric two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" name="Grafik 3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ED5B4BFA-B45A-80C6-B876-8E8525E48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" y="1730811"/>
            <a:ext cx="9144000" cy="325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055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/>
          <p:cNvSpPr/>
          <p:nvPr/>
        </p:nvSpPr>
        <p:spPr>
          <a:xfrm>
            <a:off x="685800" y="311472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rmAutofit fontScale="2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Text 1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pos="0" algn="l"/>
              </a:tabLst>
            </a:pPr>
            <a:r>
              <a:rPr lang="en-US" sz="58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lang="en-GB" sz="5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"/>
          <p:cNvSpPr/>
          <p:nvPr/>
        </p:nvSpPr>
        <p:spPr>
          <a:xfrm>
            <a:off x="685800" y="2476440"/>
            <a:ext cx="13582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3149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Questions</a:t>
            </a:r>
            <a:endParaRPr lang="en-GB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"/>
          <p:cNvSpPr/>
          <p:nvPr/>
        </p:nvSpPr>
        <p:spPr>
          <a:xfrm>
            <a:off x="685800" y="3267000"/>
            <a:ext cx="121824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Thank you</a:t>
            </a: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40D03D4FC8C944B961B26E5887A7530" ma:contentTypeVersion="10" ma:contentTypeDescription="Ein neues Dokument erstellen." ma:contentTypeScope="" ma:versionID="126c301135dc6938ecc350d383650e79">
  <xsd:schema xmlns:xsd="http://www.w3.org/2001/XMLSchema" xmlns:xs="http://www.w3.org/2001/XMLSchema" xmlns:p="http://schemas.microsoft.com/office/2006/metadata/properties" xmlns:ns2="c581cf06-f342-43bb-9c27-eb679bd1fe52" xmlns:ns3="c3a86a5d-5714-4c9c-b50f-c72962407014" targetNamespace="http://schemas.microsoft.com/office/2006/metadata/properties" ma:root="true" ma:fieldsID="4ee20aa7b3b1f848be7f6aaad3eecee1" ns2:_="" ns3:_="">
    <xsd:import namespace="c581cf06-f342-43bb-9c27-eb679bd1fe52"/>
    <xsd:import namespace="c3a86a5d-5714-4c9c-b50f-c729624070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81cf06-f342-43bb-9c27-eb679bd1fe5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Bildmarkierungen" ma:readOnly="false" ma:fieldId="{5cf76f15-5ced-4ddc-b409-7134ff3c332f}" ma:taxonomyMulti="true" ma:sspId="19e3ed14-352d-4aa2-a63b-0b06d7ab5f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a86a5d-5714-4c9c-b50f-c72962407014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68c026a6-449f-48f8-a98c-51a26df328c6}" ma:internalName="TaxCatchAll" ma:showField="CatchAllData" ma:web="c3a86a5d-5714-4c9c-b50f-c729624070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3a86a5d-5714-4c9c-b50f-c72962407014" xsi:nil="true"/>
    <lcf76f155ced4ddcb4097134ff3c332f xmlns="c581cf06-f342-43bb-9c27-eb679bd1fe5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9219E33-B68F-48F4-B88D-D6FCBFCD0B0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EE7492-68DF-4669-833A-A8185D1774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581cf06-f342-43bb-9c27-eb679bd1fe52"/>
    <ds:schemaRef ds:uri="c3a86a5d-5714-4c9c-b50f-c729624070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0252B27-8475-41DD-94D0-7CFA7F817E6D}">
  <ds:schemaRefs>
    <ds:schemaRef ds:uri="http://schemas.microsoft.com/office/2006/metadata/properties"/>
    <ds:schemaRef ds:uri="http://schemas.microsoft.com/office/infopath/2007/PartnerControls"/>
    <ds:schemaRef ds:uri="c3a86a5d-5714-4c9c-b50f-c72962407014"/>
    <ds:schemaRef ds:uri="c581cf06-f342-43bb-9c27-eb679bd1fe5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Words>0</Words>
  <Application>Microsoft Office PowerPoint</Application>
  <PresentationFormat>On-screen Show (16:9)</PresentationFormat>
  <Paragraphs>0</Paragraphs>
  <Slides>8</Slides>
  <Notes>8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dc:description/>
  <cp:lastModifiedBy/>
  <cp:revision>561</cp:revision>
  <dcterms:created xsi:type="dcterms:W3CDTF">2026-04-01T19:15:37Z</dcterms:created>
  <dcterms:modified xsi:type="dcterms:W3CDTF">2026-04-01T21:01:19Z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  <property fmtid="{D5CDD505-2E9C-101B-9397-08002B2CF9AE}" pid="5" name="ContentTypeId">
    <vt:lpwstr>0x010100B40D03D4FC8C944B961B26E5887A7530</vt:lpwstr>
  </property>
  <property fmtid="{D5CDD505-2E9C-101B-9397-08002B2CF9AE}" pid="6" name="MediaServiceImageTags">
    <vt:lpwstr/>
  </property>
</Properties>
</file>