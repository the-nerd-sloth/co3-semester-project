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4" r:id="rId9"/>
    <p:sldId id="261" r:id="rId10"/>
    <p:sldId id="266" r:id="rId11"/>
    <p:sldId id="262" r:id="rId12"/>
    <p:sldId id="265" r:id="rId13"/>
    <p:sldId id="260" r:id="rId14"/>
  </p:sldIdLst>
  <p:sldSz cx="9144000" cy="5143500" type="screen16x9"/>
  <p:notesSz cx="51435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51235F-0D18-9D4B-BDF2-AE9EDF9697A2}" v="16" dt="2026-04-02T07:51:16.745"/>
    <p1510:client id="{CAC2E89F-893E-4422-3D80-EC24371BBDEE}" v="846" dt="2026-04-02T07:02:32.283"/>
    <p1510:client id="{D5A897CB-B744-4218-89D4-120ED8D789EB}" v="400" dt="2026-04-02T07:57:34.753"/>
    <p1510:client id="{F1A4819E-55D9-4223-A6F2-1D6D816F0F24}" v="374" dt="2026-04-01T20:26:36.6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EDACC62-D2D7-47E4-B36C-A484761FD6E2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5800FE-A1A8-41A4-B783-50D3016FACF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701472-C6CA-4D38-A865-96B6542059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78D63A-056D-4603-A223-155E5B5A20B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D0F303-DBF3-46D2-9F7D-1C4CC5CDB2C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8C2CB-1CB8-7DB9-7A9D-BB6895400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>
            <a:extLst>
              <a:ext uri="{FF2B5EF4-FFF2-40B4-BE49-F238E27FC236}">
                <a16:creationId xmlns:a16="http://schemas.microsoft.com/office/drawing/2014/main" id="{F60980BA-31C6-68AF-CC66-C2EEFF2D43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8" name="PlaceHolder 2">
            <a:extLst>
              <a:ext uri="{FF2B5EF4-FFF2-40B4-BE49-F238E27FC236}">
                <a16:creationId xmlns:a16="http://schemas.microsoft.com/office/drawing/2014/main" id="{E7E6A32A-D403-6B18-05D6-63D4816867B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>
            <a:extLst>
              <a:ext uri="{FF2B5EF4-FFF2-40B4-BE49-F238E27FC236}">
                <a16:creationId xmlns:a16="http://schemas.microsoft.com/office/drawing/2014/main" id="{B7D41FEA-A367-07F2-E26C-3FD9418647D8}"/>
              </a:ext>
            </a:extLst>
          </p:cNvPr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D0F303-DBF3-46D2-9F7D-1C4CC5CDB2C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80893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01B85-2D75-B6C4-1513-AB9641901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>
            <a:extLst>
              <a:ext uri="{FF2B5EF4-FFF2-40B4-BE49-F238E27FC236}">
                <a16:creationId xmlns:a16="http://schemas.microsoft.com/office/drawing/2014/main" id="{09B15FB4-3374-7E62-BD78-EC1807045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8" name="PlaceHolder 2">
            <a:extLst>
              <a:ext uri="{FF2B5EF4-FFF2-40B4-BE49-F238E27FC236}">
                <a16:creationId xmlns:a16="http://schemas.microsoft.com/office/drawing/2014/main" id="{D041900C-27F7-BFE7-D9E5-69BBD5F9EC5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>
            <a:extLst>
              <a:ext uri="{FF2B5EF4-FFF2-40B4-BE49-F238E27FC236}">
                <a16:creationId xmlns:a16="http://schemas.microsoft.com/office/drawing/2014/main" id="{8F0A0457-8549-FD91-E518-DC0FC1A1DC70}"/>
              </a:ext>
            </a:extLst>
          </p:cNvPr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D0F303-DBF3-46D2-9F7D-1C4CC5CDB2C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083330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E3083-D342-9069-B676-DA73D07E1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>
            <a:extLst>
              <a:ext uri="{FF2B5EF4-FFF2-40B4-BE49-F238E27FC236}">
                <a16:creationId xmlns:a16="http://schemas.microsoft.com/office/drawing/2014/main" id="{4CE0ED05-9292-15F7-BEB8-65BA355C08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8" name="PlaceHolder 2">
            <a:extLst>
              <a:ext uri="{FF2B5EF4-FFF2-40B4-BE49-F238E27FC236}">
                <a16:creationId xmlns:a16="http://schemas.microsoft.com/office/drawing/2014/main" id="{33062904-8223-B571-269D-D55F2B83C6A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>
            <a:extLst>
              <a:ext uri="{FF2B5EF4-FFF2-40B4-BE49-F238E27FC236}">
                <a16:creationId xmlns:a16="http://schemas.microsoft.com/office/drawing/2014/main" id="{7C67CD51-1F40-2AF7-F642-F6853F55AFD2}"/>
              </a:ext>
            </a:extLst>
          </p:cNvPr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D0F303-DBF3-46D2-9F7D-1C4CC5CDB2C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25069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C8CE6-C0B7-E060-657F-BBF43AC91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>
            <a:extLst>
              <a:ext uri="{FF2B5EF4-FFF2-40B4-BE49-F238E27FC236}">
                <a16:creationId xmlns:a16="http://schemas.microsoft.com/office/drawing/2014/main" id="{18512910-0E41-61B6-50E9-CCECFF8442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8" name="PlaceHolder 2">
            <a:extLst>
              <a:ext uri="{FF2B5EF4-FFF2-40B4-BE49-F238E27FC236}">
                <a16:creationId xmlns:a16="http://schemas.microsoft.com/office/drawing/2014/main" id="{C672276B-CAA8-2F65-EBAF-1F7C594084D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>
            <a:extLst>
              <a:ext uri="{FF2B5EF4-FFF2-40B4-BE49-F238E27FC236}">
                <a16:creationId xmlns:a16="http://schemas.microsoft.com/office/drawing/2014/main" id="{F2BA5712-D01B-110D-D49A-7D1E796A2BD9}"/>
              </a:ext>
            </a:extLst>
          </p:cNvPr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D0F303-DBF3-46D2-9F7D-1C4CC5CDB2C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885543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9CFE6-9870-4A12-2BE1-4EB41FCF4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>
            <a:extLst>
              <a:ext uri="{FF2B5EF4-FFF2-40B4-BE49-F238E27FC236}">
                <a16:creationId xmlns:a16="http://schemas.microsoft.com/office/drawing/2014/main" id="{F9DB7DD6-796E-5C07-4A64-B796C52686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8" name="PlaceHolder 2">
            <a:extLst>
              <a:ext uri="{FF2B5EF4-FFF2-40B4-BE49-F238E27FC236}">
                <a16:creationId xmlns:a16="http://schemas.microsoft.com/office/drawing/2014/main" id="{9C906189-BE6D-BF04-CBFC-B45CB9801A9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>
            <a:extLst>
              <a:ext uri="{FF2B5EF4-FFF2-40B4-BE49-F238E27FC236}">
                <a16:creationId xmlns:a16="http://schemas.microsoft.com/office/drawing/2014/main" id="{5C55F04C-5624-D54C-9353-22ECCC21F12B}"/>
              </a:ext>
            </a:extLst>
          </p:cNvPr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D0F303-DBF3-46D2-9F7D-1C4CC5CDB2C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363129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5C25F5-003D-4B3C-9571-C8DFCAC02A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B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685800" y="3000240"/>
            <a:ext cx="6190920" cy="37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rmAutofit fontScale="2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Text 1"/>
          <p:cNvSpPr/>
          <p:nvPr/>
        </p:nvSpPr>
        <p:spPr>
          <a:xfrm>
            <a:off x="7493040" y="361800"/>
            <a:ext cx="1098360" cy="124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ts val="4915"/>
              </a:lnSpc>
              <a:tabLst>
                <a:tab pos="0" algn="l"/>
              </a:tabLst>
            </a:pPr>
            <a:r>
              <a:rPr lang="en-US" sz="58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zh</a:t>
            </a:r>
            <a:endParaRPr lang="en-GB" sz="5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ts val="4915"/>
              </a:lnSpc>
              <a:tabLst>
                <a:tab pos="0" algn="l"/>
              </a:tabLst>
            </a:pPr>
            <a:r>
              <a:rPr lang="en-US" sz="58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aw</a:t>
            </a:r>
            <a:endParaRPr lang="en-GB" sz="5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685800" y="2074320"/>
            <a:ext cx="615420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3149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Optimizing distribution of drinking water in remote areas </a:t>
            </a:r>
            <a:r>
              <a:rPr lang="en-US" sz="2100">
                <a:solidFill>
                  <a:srgbClr val="FFFFFF"/>
                </a:solidFill>
                <a:latin typeface="Arial"/>
                <a:ea typeface="Arial"/>
              </a:rPr>
              <a:t>of Nepal</a:t>
            </a:r>
            <a:endParaRPr lang="en-GB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685800" y="3143160"/>
            <a:ext cx="615420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137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400">
                <a:solidFill>
                  <a:srgbClr val="FFFFFF"/>
                </a:solidFill>
                <a:latin typeface="Arial"/>
              </a:rPr>
              <a:t>Biner Nicolas, Giacomelli Robin, Giora </a:t>
            </a:r>
            <a:r>
              <a:rPr lang="en-US" sz="1400" err="1">
                <a:solidFill>
                  <a:srgbClr val="FFFFFF"/>
                </a:solidFill>
                <a:latin typeface="Arial"/>
              </a:rPr>
              <a:t>Triantafyllia</a:t>
            </a:r>
            <a:r>
              <a:rPr lang="en-US" sz="1400">
                <a:solidFill>
                  <a:srgbClr val="FFFFFF"/>
                </a:solidFill>
                <a:latin typeface="Arial"/>
              </a:rPr>
              <a:t>, </a:t>
            </a:r>
            <a:r>
              <a:rPr lang="en-US" sz="1400" err="1">
                <a:solidFill>
                  <a:srgbClr val="FFFFFF"/>
                </a:solidFill>
                <a:latin typeface="Arial"/>
              </a:rPr>
              <a:t>Margomenos</a:t>
            </a:r>
            <a:r>
              <a:rPr lang="en-US" sz="1400">
                <a:solidFill>
                  <a:srgbClr val="FFFFFF"/>
                </a:solidFill>
                <a:latin typeface="Arial"/>
              </a:rPr>
              <a:t> Spyridon</a:t>
            </a:r>
          </a:p>
        </p:txBody>
      </p:sp>
      <p:sp>
        <p:nvSpPr>
          <p:cNvPr id="12" name="Text 4"/>
          <p:cNvSpPr/>
          <p:nvPr/>
        </p:nvSpPr>
        <p:spPr>
          <a:xfrm>
            <a:off x="685800" y="4672265"/>
            <a:ext cx="687420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2137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April 2, 2026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B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/>
          <p:cNvSpPr/>
          <p:nvPr/>
        </p:nvSpPr>
        <p:spPr>
          <a:xfrm>
            <a:off x="685800" y="1333440"/>
            <a:ext cx="6190920" cy="37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rmAutofit fontScale="2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Text 1"/>
          <p:cNvSpPr/>
          <p:nvPr/>
        </p:nvSpPr>
        <p:spPr>
          <a:xfrm>
            <a:off x="7493040" y="361800"/>
            <a:ext cx="1098360" cy="124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ts val="4915"/>
              </a:lnSpc>
              <a:tabLst>
                <a:tab pos="0" algn="l"/>
              </a:tabLst>
            </a:pPr>
            <a:r>
              <a:rPr lang="en-US" sz="58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zh</a:t>
            </a:r>
            <a:endParaRPr lang="en-GB" sz="5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ts val="4915"/>
              </a:lnSpc>
              <a:tabLst>
                <a:tab pos="0" algn="l"/>
              </a:tabLst>
            </a:pPr>
            <a:r>
              <a:rPr lang="en-US" sz="58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aw</a:t>
            </a:r>
            <a:endParaRPr lang="en-GB" sz="5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2"/>
          <p:cNvSpPr/>
          <p:nvPr/>
        </p:nvSpPr>
        <p:spPr>
          <a:xfrm>
            <a:off x="685800" y="857160"/>
            <a:ext cx="2620677" cy="4157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3149"/>
              </a:lnSpc>
              <a:tabLst>
                <a:tab pos="0" algn="l"/>
              </a:tabLst>
            </a:pPr>
            <a:r>
              <a:rPr lang="en-US" sz="2100">
                <a:solidFill>
                  <a:srgbClr val="FFFFFF"/>
                </a:solidFill>
                <a:ea typeface="+mn-lt"/>
                <a:cs typeface="+mn-lt"/>
              </a:rPr>
              <a:t>Table of Contents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358DBB-CE38-0EFB-9437-1D75DFA18FF5}"/>
              </a:ext>
            </a:extLst>
          </p:cNvPr>
          <p:cNvSpPr/>
          <p:nvPr/>
        </p:nvSpPr>
        <p:spPr>
          <a:xfrm>
            <a:off x="-1" y="1719891"/>
            <a:ext cx="9146699" cy="34343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3"/>
          <p:cNvSpPr/>
          <p:nvPr/>
        </p:nvSpPr>
        <p:spPr>
          <a:xfrm>
            <a:off x="685800" y="2157427"/>
            <a:ext cx="6266312" cy="121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50">
                <a:solidFill>
                  <a:schemeClr val="accent1"/>
                </a:solidFill>
                <a:ea typeface="+mn-lt"/>
                <a:cs typeface="+mn-lt"/>
              </a:rPr>
              <a:t>Problem Formulation</a:t>
            </a:r>
            <a:endParaRPr lang="en-US">
              <a:solidFill>
                <a:schemeClr val="accent1"/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>
              <a:solidFill>
                <a:schemeClr val="accent1"/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1650">
                <a:solidFill>
                  <a:schemeClr val="accent1"/>
                </a:solidFill>
                <a:ea typeface="+mn-lt"/>
                <a:cs typeface="+mn-lt"/>
              </a:rPr>
              <a:t>The Lagrange Approach</a:t>
            </a:r>
            <a:endParaRPr lang="en-US">
              <a:solidFill>
                <a:schemeClr val="accent1"/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>
              <a:solidFill>
                <a:schemeClr val="accent1"/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1650">
                <a:solidFill>
                  <a:schemeClr val="accent1"/>
                </a:solidFill>
                <a:ea typeface="+mn-lt"/>
                <a:cs typeface="+mn-lt"/>
              </a:rPr>
              <a:t>Simulated Annealing</a:t>
            </a:r>
            <a:endParaRPr lang="en-US">
              <a:solidFill>
                <a:schemeClr val="accent1"/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>
              <a:solidFill>
                <a:schemeClr val="accent1"/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1650">
                <a:solidFill>
                  <a:schemeClr val="accent1"/>
                </a:solidFill>
                <a:ea typeface="+mn-lt"/>
                <a:cs typeface="+mn-lt"/>
              </a:rPr>
              <a:t>Method Comparison</a:t>
            </a:r>
            <a:endParaRPr lang="en-US">
              <a:solidFill>
                <a:schemeClr val="accent1"/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>
              <a:solidFill>
                <a:schemeClr val="accent1"/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 defTabSz="914400">
              <a:lnSpc>
                <a:spcPts val="2392"/>
              </a:lnSpc>
              <a:buFont typeface="Arial"/>
              <a:buChar char="•"/>
            </a:pPr>
            <a:r>
              <a:rPr lang="en-US" sz="1650">
                <a:solidFill>
                  <a:schemeClr val="accent1"/>
                </a:solidFill>
                <a:ea typeface="+mn-lt"/>
                <a:cs typeface="+mn-lt"/>
              </a:rPr>
              <a:t>Q&amp;A</a:t>
            </a:r>
            <a:endParaRPr lang="en-US">
              <a:solidFill>
                <a:schemeClr val="accent1"/>
              </a:solidFill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B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C0C21FE-AC15-8042-C3D8-1778AB87BF4C}"/>
              </a:ext>
            </a:extLst>
          </p:cNvPr>
          <p:cNvSpPr/>
          <p:nvPr/>
        </p:nvSpPr>
        <p:spPr>
          <a:xfrm>
            <a:off x="-1" y="1719891"/>
            <a:ext cx="9146699" cy="34343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0"/>
          <p:cNvSpPr/>
          <p:nvPr/>
        </p:nvSpPr>
        <p:spPr>
          <a:xfrm>
            <a:off x="685800" y="1333440"/>
            <a:ext cx="6190920" cy="37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rmAutofit fontScale="2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Text 1"/>
          <p:cNvSpPr/>
          <p:nvPr/>
        </p:nvSpPr>
        <p:spPr>
          <a:xfrm>
            <a:off x="685800" y="1809720"/>
            <a:ext cx="6419010" cy="2955924"/>
          </a:xfrm>
          <a:prstGeom prst="rect">
            <a:avLst/>
          </a:pr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28600" tIns="228600" rIns="228600" bIns="228600"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1500">
                <a:solidFill>
                  <a:schemeClr val="accent1"/>
                </a:solidFill>
                <a:latin typeface="Arial"/>
                <a:cs typeface="Arial"/>
              </a:rPr>
              <a:t>Goal: Distribute drinking water supply in remote areas of Nepal</a:t>
            </a:r>
          </a:p>
          <a:p>
            <a:pPr>
              <a:tabLst>
                <a:tab pos="0" algn="l"/>
              </a:tabLst>
            </a:pPr>
            <a:endParaRPr lang="en-US" sz="1500">
              <a:solidFill>
                <a:schemeClr val="accent1"/>
              </a:solidFill>
              <a:latin typeface="Arial"/>
              <a:cs typeface="Arial"/>
            </a:endParaRPr>
          </a:p>
          <a:p>
            <a:pPr>
              <a:tabLst>
                <a:tab pos="0" algn="l"/>
              </a:tabLst>
            </a:pPr>
            <a:r>
              <a:rPr lang="en-US" sz="1500">
                <a:solidFill>
                  <a:schemeClr val="accent1"/>
                </a:solidFill>
                <a:latin typeface="Arial"/>
                <a:cs typeface="Arial"/>
              </a:rPr>
              <a:t>Restrictions: </a:t>
            </a:r>
          </a:p>
          <a:p>
            <a:pPr marL="1200150" lvl="2" indent="-285750">
              <a:buFont typeface="Wingdings"/>
              <a:buChar char="§"/>
              <a:tabLst>
                <a:tab pos="0" algn="l"/>
              </a:tabLst>
            </a:pPr>
            <a:r>
              <a:rPr lang="en-US" sz="1500">
                <a:solidFill>
                  <a:schemeClr val="accent1"/>
                </a:solidFill>
                <a:latin typeface="Arial"/>
                <a:cs typeface="Arial"/>
              </a:rPr>
              <a:t>All houses must have some minimum access to water</a:t>
            </a:r>
          </a:p>
          <a:p>
            <a:pPr marL="1200150" lvl="2" indent="-285750">
              <a:buFont typeface="Wingdings"/>
              <a:buChar char="§"/>
              <a:tabLst>
                <a:tab pos="0" algn="l"/>
              </a:tabLst>
            </a:pPr>
            <a:r>
              <a:rPr lang="en-US" sz="1500">
                <a:solidFill>
                  <a:schemeClr val="accent1"/>
                </a:solidFill>
                <a:latin typeface="Arial"/>
                <a:cs typeface="Arial"/>
              </a:rPr>
              <a:t>Water amount must be proportional to their needs</a:t>
            </a:r>
          </a:p>
          <a:p>
            <a:pPr marL="1200150" lvl="2" indent="-285750">
              <a:buFont typeface="Wingdings"/>
              <a:buChar char="§"/>
              <a:tabLst>
                <a:tab pos="0" algn="l"/>
              </a:tabLst>
            </a:pPr>
            <a:r>
              <a:rPr lang="en-US" sz="1500">
                <a:solidFill>
                  <a:schemeClr val="accent1"/>
                </a:solidFill>
                <a:latin typeface="Arial"/>
                <a:cs typeface="Arial"/>
              </a:rPr>
              <a:t>There are losses due to the terrain/pipe quality</a:t>
            </a:r>
          </a:p>
          <a:p>
            <a:pPr marL="1200150" lvl="2" indent="-285750">
              <a:buFont typeface="Wingdings"/>
              <a:buChar char="§"/>
              <a:tabLst>
                <a:tab pos="0" algn="l"/>
              </a:tabLst>
            </a:pPr>
            <a:endParaRPr lang="en-US" sz="1500">
              <a:solidFill>
                <a:schemeClr val="accent1"/>
              </a:solidFill>
              <a:latin typeface="Arial"/>
              <a:cs typeface="Arial"/>
            </a:endParaRPr>
          </a:p>
          <a:p>
            <a:pPr>
              <a:tabLst>
                <a:tab pos="0" algn="l"/>
              </a:tabLst>
            </a:pPr>
            <a:r>
              <a:rPr lang="en-US" sz="1500">
                <a:solidFill>
                  <a:schemeClr val="accent1"/>
                </a:solidFill>
                <a:latin typeface="Arial"/>
                <a:cs typeface="Arial"/>
              </a:rPr>
              <a:t>Methods used:</a:t>
            </a:r>
          </a:p>
          <a:p>
            <a:pPr marL="1200150" lvl="2" indent="-285750">
              <a:buFont typeface="Wingdings"/>
              <a:buChar char="§"/>
              <a:tabLst>
                <a:tab pos="0" algn="l"/>
              </a:tabLst>
            </a:pPr>
            <a:r>
              <a:rPr lang="en-US" sz="1500">
                <a:solidFill>
                  <a:schemeClr val="accent1"/>
                </a:solidFill>
                <a:latin typeface="Arial"/>
                <a:cs typeface="Arial"/>
              </a:rPr>
              <a:t>Lagrange Method</a:t>
            </a:r>
          </a:p>
          <a:p>
            <a:pPr marL="1200150" lvl="2" indent="-285750">
              <a:buFont typeface="Wingdings"/>
              <a:buChar char="§"/>
              <a:tabLst>
                <a:tab pos="0" algn="l"/>
              </a:tabLst>
            </a:pPr>
            <a:r>
              <a:rPr lang="en-US" sz="1500">
                <a:solidFill>
                  <a:schemeClr val="accent1"/>
                </a:solidFill>
                <a:latin typeface="Arial"/>
                <a:cs typeface="Arial"/>
              </a:rPr>
              <a:t>Simulated Annealing</a:t>
            </a:r>
          </a:p>
          <a:p>
            <a:pPr marL="1200150" lvl="2" indent="-285750">
              <a:buFont typeface="Wingdings"/>
              <a:buChar char="§"/>
              <a:tabLst>
                <a:tab pos="0" algn="l"/>
              </a:tabLst>
            </a:pPr>
            <a:endParaRPr lang="en-US" sz="1500">
              <a:solidFill>
                <a:schemeClr val="accent1"/>
              </a:solidFill>
              <a:latin typeface="Arial"/>
              <a:cs typeface="Arial"/>
            </a:endParaRPr>
          </a:p>
          <a:p>
            <a:pPr>
              <a:tabLst>
                <a:tab pos="0" algn="l"/>
              </a:tabLst>
            </a:pPr>
            <a:endParaRPr lang="en-US" sz="1500">
              <a:solidFill>
                <a:schemeClr val="accent1"/>
              </a:solidFill>
              <a:latin typeface="Arial"/>
              <a:cs typeface="Arial"/>
            </a:endParaRPr>
          </a:p>
          <a:p>
            <a:pPr>
              <a:tabLst>
                <a:tab pos="0" algn="l"/>
              </a:tabLst>
            </a:pPr>
            <a:endParaRPr lang="en-US" sz="1500">
              <a:solidFill>
                <a:schemeClr val="accent1"/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endParaRPr lang="en-US" sz="1500">
              <a:solidFill>
                <a:schemeClr val="accent1"/>
              </a:solidFill>
              <a:latin typeface="Arial"/>
              <a:cs typeface="Arial"/>
            </a:endParaRPr>
          </a:p>
        </p:txBody>
      </p:sp>
      <p:sp>
        <p:nvSpPr>
          <p:cNvPr id="20" name="Text 3"/>
          <p:cNvSpPr/>
          <p:nvPr/>
        </p:nvSpPr>
        <p:spPr>
          <a:xfrm>
            <a:off x="7493040" y="361800"/>
            <a:ext cx="1098360" cy="124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ts val="4915"/>
              </a:lnSpc>
              <a:tabLst>
                <a:tab pos="0" algn="l"/>
              </a:tabLst>
            </a:pPr>
            <a:r>
              <a:rPr lang="en-US" sz="58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zh</a:t>
            </a:r>
            <a:endParaRPr lang="en-GB" sz="5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ts val="4915"/>
              </a:lnSpc>
              <a:tabLst>
                <a:tab pos="0" algn="l"/>
              </a:tabLst>
            </a:pPr>
            <a:r>
              <a:rPr lang="en-US" sz="58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aw</a:t>
            </a:r>
            <a:endParaRPr lang="en-GB" sz="5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4"/>
          <p:cNvSpPr/>
          <p:nvPr/>
        </p:nvSpPr>
        <p:spPr>
          <a:xfrm>
            <a:off x="685800" y="857160"/>
            <a:ext cx="3166410" cy="4157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3149"/>
              </a:lnSpc>
              <a:tabLst>
                <a:tab pos="0" algn="l"/>
              </a:tabLst>
            </a:pPr>
            <a:r>
              <a:rPr lang="en-US" sz="2100">
                <a:solidFill>
                  <a:srgbClr val="FFFFFF"/>
                </a:solidFill>
                <a:latin typeface="Arial"/>
              </a:rPr>
              <a:t>Problem Formulation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B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00D2061-A89B-486F-A4BC-B38974C6212A}"/>
              </a:ext>
            </a:extLst>
          </p:cNvPr>
          <p:cNvSpPr/>
          <p:nvPr/>
        </p:nvSpPr>
        <p:spPr>
          <a:xfrm>
            <a:off x="-1" y="1719891"/>
            <a:ext cx="9146699" cy="34343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0"/>
          <p:cNvSpPr/>
          <p:nvPr/>
        </p:nvSpPr>
        <p:spPr>
          <a:xfrm>
            <a:off x="685800" y="1333440"/>
            <a:ext cx="6190920" cy="37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rmAutofit fontScale="2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Text 4"/>
          <p:cNvSpPr/>
          <p:nvPr/>
        </p:nvSpPr>
        <p:spPr>
          <a:xfrm>
            <a:off x="7493040" y="361800"/>
            <a:ext cx="1098360" cy="124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ts val="4915"/>
              </a:lnSpc>
              <a:tabLst>
                <a:tab pos="0" algn="l"/>
              </a:tabLst>
            </a:pPr>
            <a:r>
              <a:rPr lang="en-US" sz="58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zh</a:t>
            </a:r>
            <a:endParaRPr lang="en-GB" sz="5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ts val="4915"/>
              </a:lnSpc>
              <a:tabLst>
                <a:tab pos="0" algn="l"/>
              </a:tabLst>
            </a:pPr>
            <a:r>
              <a:rPr lang="en-US" sz="58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aw</a:t>
            </a:r>
            <a:endParaRPr lang="en-GB" sz="5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5"/>
          <p:cNvSpPr/>
          <p:nvPr/>
        </p:nvSpPr>
        <p:spPr>
          <a:xfrm>
            <a:off x="685800" y="857160"/>
            <a:ext cx="2749711" cy="4279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3149"/>
              </a:lnSpc>
              <a:tabLst>
                <a:tab pos="0" algn="l"/>
              </a:tabLst>
            </a:pPr>
            <a:r>
              <a:rPr lang="en-US" sz="2100">
                <a:solidFill>
                  <a:srgbClr val="FFFFFF"/>
                </a:solidFill>
                <a:latin typeface="Arial"/>
              </a:rPr>
              <a:t>Problem Formulation</a:t>
            </a:r>
          </a:p>
          <a:p>
            <a:pPr>
              <a:lnSpc>
                <a:spcPts val="3149"/>
              </a:lnSpc>
              <a:tabLst>
                <a:tab pos="0" algn="l"/>
              </a:tabLst>
            </a:pP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B073619-DD9F-B682-7EA6-0A588B48114B}"/>
              </a:ext>
            </a:extLst>
          </p:cNvPr>
          <p:cNvSpPr/>
          <p:nvPr/>
        </p:nvSpPr>
        <p:spPr>
          <a:xfrm>
            <a:off x="685800" y="2157427"/>
            <a:ext cx="6266312" cy="28978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en-US" sz="1650" b="1" i="1">
                <a:solidFill>
                  <a:schemeClr val="accent1"/>
                </a:solidFill>
                <a:ea typeface="Calibri" panose="020F0502020204030204"/>
                <a:cs typeface="Calibri" panose="020F0502020204030204"/>
              </a:rPr>
              <a:t>a</a:t>
            </a:r>
            <a:r>
              <a:rPr lang="en-US" sz="1650" i="1">
                <a:solidFill>
                  <a:schemeClr val="accent1"/>
                </a:solidFill>
                <a:ea typeface="Calibri" panose="020F0502020204030204"/>
                <a:cs typeface="Calibri" panose="020F0502020204030204"/>
              </a:rPr>
              <a:t>  </a:t>
            </a:r>
            <a:r>
              <a:rPr lang="en-US" sz="1650">
                <a:solidFill>
                  <a:schemeClr val="accent1"/>
                </a:solidFill>
                <a:ea typeface="Calibri" panose="020F0502020204030204"/>
                <a:cs typeface="Calibri" panose="020F0502020204030204"/>
              </a:rPr>
              <a:t>: delivery-loss factor</a:t>
            </a:r>
          </a:p>
          <a:p>
            <a:r>
              <a:rPr lang="en-US" sz="1650" b="1" i="1">
                <a:solidFill>
                  <a:schemeClr val="accent1"/>
                </a:solidFill>
                <a:ea typeface="Calibri" panose="020F0502020204030204"/>
                <a:cs typeface="Calibri" panose="020F0502020204030204"/>
              </a:rPr>
              <a:t>b</a:t>
            </a:r>
            <a:r>
              <a:rPr lang="en-US" sz="1650">
                <a:solidFill>
                  <a:schemeClr val="accent1"/>
                </a:solidFill>
                <a:ea typeface="Calibri" panose="020F0502020204030204"/>
                <a:cs typeface="Calibri" panose="020F0502020204030204"/>
              </a:rPr>
              <a:t>  : the smallest required amount of water per household</a:t>
            </a:r>
            <a:endParaRPr lang="en-US">
              <a:solidFill>
                <a:schemeClr val="accent1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en-US" sz="1650" b="1" i="1">
                <a:solidFill>
                  <a:schemeClr val="accent1"/>
                </a:solidFill>
                <a:ea typeface="Calibri" panose="020F0502020204030204"/>
                <a:cs typeface="Calibri" panose="020F0502020204030204"/>
              </a:rPr>
              <a:t>d</a:t>
            </a:r>
            <a:r>
              <a:rPr lang="en-US" sz="1650">
                <a:solidFill>
                  <a:schemeClr val="accent1"/>
                </a:solidFill>
                <a:ea typeface="Calibri" panose="020F0502020204030204"/>
                <a:cs typeface="Calibri" panose="020F0502020204030204"/>
              </a:rPr>
              <a:t>  : demand per household</a:t>
            </a:r>
          </a:p>
          <a:p>
            <a:r>
              <a:rPr lang="en-US" sz="1650" b="1" i="1">
                <a:solidFill>
                  <a:schemeClr val="accent1"/>
                </a:solidFill>
                <a:ea typeface="Calibri" panose="020F0502020204030204"/>
                <a:cs typeface="Calibri" panose="020F0502020204030204"/>
              </a:rPr>
              <a:t>w</a:t>
            </a:r>
            <a:r>
              <a:rPr lang="en-US" sz="1650">
                <a:solidFill>
                  <a:schemeClr val="accent1"/>
                </a:solidFill>
                <a:ea typeface="Calibri" panose="020F0502020204030204"/>
                <a:cs typeface="Calibri" panose="020F0502020204030204"/>
              </a:rPr>
              <a:t> : house priority/vulnerability factor</a:t>
            </a:r>
          </a:p>
          <a:p>
            <a:r>
              <a:rPr lang="en-US" sz="1650" b="1" i="1">
                <a:solidFill>
                  <a:schemeClr val="accent1"/>
                </a:solidFill>
                <a:ea typeface="Calibri" panose="020F0502020204030204"/>
                <a:cs typeface="Calibri" panose="020F0502020204030204"/>
              </a:rPr>
              <a:t>S</a:t>
            </a:r>
            <a:r>
              <a:rPr lang="en-US" sz="1650">
                <a:solidFill>
                  <a:schemeClr val="accent1"/>
                </a:solidFill>
                <a:ea typeface="Calibri" panose="020F0502020204030204"/>
                <a:cs typeface="Calibri" panose="020F0502020204030204"/>
              </a:rPr>
              <a:t>  : total available water supply</a:t>
            </a:r>
          </a:p>
          <a:p>
            <a:endParaRPr lang="en-US" sz="1650">
              <a:solidFill>
                <a:schemeClr val="accent1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en-US" sz="1650" b="1">
                <a:solidFill>
                  <a:schemeClr val="accent1"/>
                </a:solidFill>
                <a:ea typeface="Calibri" panose="020F0502020204030204"/>
                <a:cs typeface="Calibri" panose="020F0502020204030204"/>
              </a:rPr>
              <a:t>Continuous variables, smooth objective function, constrained</a:t>
            </a:r>
          </a:p>
          <a:p>
            <a:pPr marL="285750" indent="-285750">
              <a:buFont typeface="Arial"/>
              <a:buChar char="•"/>
            </a:pPr>
            <a:endParaRPr lang="en-US" sz="1650">
              <a:solidFill>
                <a:schemeClr val="accent1"/>
              </a:solidFill>
              <a:ea typeface="Calibri" panose="020F0502020204030204"/>
              <a:cs typeface="Calibri" panose="020F0502020204030204"/>
            </a:endParaRPr>
          </a:p>
          <a:p>
            <a:endParaRPr lang="en-US" sz="1650">
              <a:solidFill>
                <a:schemeClr val="accent1"/>
              </a:solidFill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B9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8BE980-4121-4497-8843-265242E81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A87CF19-2185-6B3B-387D-F8034C6FE824}"/>
              </a:ext>
            </a:extLst>
          </p:cNvPr>
          <p:cNvSpPr/>
          <p:nvPr/>
        </p:nvSpPr>
        <p:spPr>
          <a:xfrm>
            <a:off x="-1" y="1719891"/>
            <a:ext cx="9146699" cy="34343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622BB3F0-CFFD-11C5-8B83-52AEFFB9C9B0}"/>
              </a:ext>
            </a:extLst>
          </p:cNvPr>
          <p:cNvSpPr/>
          <p:nvPr/>
        </p:nvSpPr>
        <p:spPr>
          <a:xfrm>
            <a:off x="685800" y="1333440"/>
            <a:ext cx="6190920" cy="37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rmAutofit fontScale="2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65B0C490-5FDB-F551-1067-050163CE48DC}"/>
              </a:ext>
            </a:extLst>
          </p:cNvPr>
          <p:cNvSpPr/>
          <p:nvPr/>
        </p:nvSpPr>
        <p:spPr>
          <a:xfrm>
            <a:off x="7493040" y="361800"/>
            <a:ext cx="1098360" cy="124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ts val="4915"/>
              </a:lnSpc>
              <a:tabLst>
                <a:tab pos="0" algn="l"/>
              </a:tabLst>
            </a:pPr>
            <a:r>
              <a:rPr lang="en-US" sz="58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zh</a:t>
            </a:r>
            <a:endParaRPr lang="en-GB" sz="5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ts val="4915"/>
              </a:lnSpc>
              <a:tabLst>
                <a:tab pos="0" algn="l"/>
              </a:tabLst>
            </a:pPr>
            <a:r>
              <a:rPr lang="en-US" sz="58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aw</a:t>
            </a:r>
            <a:endParaRPr lang="en-GB" sz="5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AA79E5E1-EA65-6764-6D1D-426DB69BFAEF}"/>
              </a:ext>
            </a:extLst>
          </p:cNvPr>
          <p:cNvSpPr/>
          <p:nvPr/>
        </p:nvSpPr>
        <p:spPr>
          <a:xfrm>
            <a:off x="685800" y="857160"/>
            <a:ext cx="2094643" cy="4252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3149"/>
              </a:lnSpc>
              <a:tabLst>
                <a:tab pos="0" algn="l"/>
              </a:tabLst>
            </a:pPr>
            <a:r>
              <a:rPr lang="en-US" sz="2100">
                <a:solidFill>
                  <a:srgbClr val="FFFFFF"/>
                </a:solidFill>
                <a:latin typeface="Arial"/>
              </a:rPr>
              <a:t>Lagrange Method</a:t>
            </a:r>
            <a:endParaRPr lang="en-GB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60D5F65-248B-5062-F25B-0367D1F2090B}"/>
              </a:ext>
            </a:extLst>
          </p:cNvPr>
          <p:cNvSpPr/>
          <p:nvPr/>
        </p:nvSpPr>
        <p:spPr>
          <a:xfrm>
            <a:off x="685800" y="2157427"/>
            <a:ext cx="6266312" cy="28978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650">
              <a:solidFill>
                <a:schemeClr val="accent1"/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2" name="Picture 1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B099AB76-2D99-3ED3-D17A-882279562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52" y="2068722"/>
            <a:ext cx="4750280" cy="11678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276615-D3B8-AE0B-CB96-E61889885F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2328" y="3237422"/>
            <a:ext cx="3505919" cy="24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97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B9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30EEAE-BADB-096E-4CC5-A379C3E9A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>
            <a:extLst>
              <a:ext uri="{FF2B5EF4-FFF2-40B4-BE49-F238E27FC236}">
                <a16:creationId xmlns:a16="http://schemas.microsoft.com/office/drawing/2014/main" id="{FD96C2F0-8368-CE83-C0A3-7EAD2369C69A}"/>
              </a:ext>
            </a:extLst>
          </p:cNvPr>
          <p:cNvSpPr/>
          <p:nvPr/>
        </p:nvSpPr>
        <p:spPr>
          <a:xfrm>
            <a:off x="685800" y="1333440"/>
            <a:ext cx="6190920" cy="37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rmAutofit fontScale="2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51179520-55AF-358C-56C4-2B28E73363D2}"/>
              </a:ext>
            </a:extLst>
          </p:cNvPr>
          <p:cNvSpPr/>
          <p:nvPr/>
        </p:nvSpPr>
        <p:spPr>
          <a:xfrm>
            <a:off x="7493040" y="361800"/>
            <a:ext cx="1098360" cy="124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ts val="4915"/>
              </a:lnSpc>
              <a:tabLst>
                <a:tab pos="0" algn="l"/>
              </a:tabLst>
            </a:pPr>
            <a:r>
              <a:rPr lang="en-US" sz="58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zh</a:t>
            </a:r>
            <a:endParaRPr lang="en-GB" sz="5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ts val="4915"/>
              </a:lnSpc>
              <a:tabLst>
                <a:tab pos="0" algn="l"/>
              </a:tabLst>
            </a:pPr>
            <a:r>
              <a:rPr lang="en-US" sz="58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aw</a:t>
            </a:r>
            <a:endParaRPr lang="en-GB" sz="5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CBC8AFD6-334D-8EBF-50E6-6C97AD786544}"/>
              </a:ext>
            </a:extLst>
          </p:cNvPr>
          <p:cNvSpPr/>
          <p:nvPr/>
        </p:nvSpPr>
        <p:spPr>
          <a:xfrm>
            <a:off x="685800" y="857160"/>
            <a:ext cx="2775305" cy="4252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3149"/>
              </a:lnSpc>
              <a:tabLst>
                <a:tab pos="0" algn="l"/>
              </a:tabLst>
            </a:pPr>
            <a:r>
              <a:rPr lang="en-US" sz="2100">
                <a:solidFill>
                  <a:srgbClr val="FFFFFF"/>
                </a:solidFill>
                <a:latin typeface="Arial"/>
              </a:rPr>
              <a:t>Simulated Annealing</a:t>
            </a:r>
            <a:endParaRPr lang="de-D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79BF79-293B-5877-BCD8-4F92A5E49894}"/>
              </a:ext>
            </a:extLst>
          </p:cNvPr>
          <p:cNvSpPr/>
          <p:nvPr/>
        </p:nvSpPr>
        <p:spPr>
          <a:xfrm>
            <a:off x="-1" y="1719891"/>
            <a:ext cx="9146699" cy="34343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3">
                <a:extLst>
                  <a:ext uri="{FF2B5EF4-FFF2-40B4-BE49-F238E27FC236}">
                    <a16:creationId xmlns:a16="http://schemas.microsoft.com/office/drawing/2014/main" id="{9893A168-C920-C510-5438-CB82C0A97D8D}"/>
                  </a:ext>
                </a:extLst>
              </p:cNvPr>
              <p:cNvSpPr/>
              <p:nvPr/>
            </p:nvSpPr>
            <p:spPr>
              <a:xfrm>
                <a:off x="685800" y="2157427"/>
                <a:ext cx="6266312" cy="1215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noAutofit/>
              </a:bodyPr>
              <a:lstStyle/>
              <a:p>
                <a:endParaRPr lang="en-US" sz="1650">
                  <a:solidFill>
                    <a:schemeClr val="accent1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marL="285750" indent="-285750"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CH" sz="165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50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50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k</m:t>
                        </m:r>
                      </m:sub>
                    </m:sSub>
                    <m:r>
                      <a:rPr lang="en-US" sz="165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anose="020F0502020204030204"/>
                        <a:cs typeface="Calibri" panose="020F0502020204030204"/>
                      </a:rPr>
                      <m:t>=</m:t>
                    </m:r>
                    <m:sSub>
                      <m:sSubPr>
                        <m:ctrlPr>
                          <a:rPr lang="de-CH" sz="165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</m:ctrlPr>
                      </m:sSubPr>
                      <m:e>
                        <m:r>
                          <a:rPr lang="de-CH" sz="165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𝑇</m:t>
                        </m:r>
                      </m:e>
                      <m:sub>
                        <m:r>
                          <a:rPr lang="de-CH" sz="165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0</m:t>
                        </m:r>
                      </m:sub>
                    </m:sSub>
                    <m:r>
                      <a:rPr lang="de-CH" sz="165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anose="020F0502020204030204"/>
                        <a:cs typeface="Calibri" panose="020F0502020204030204"/>
                      </a:rPr>
                      <m:t> ∗</m:t>
                    </m:r>
                    <m:d>
                      <m:dPr>
                        <m:ctrlPr>
                          <a:rPr lang="de-CH" sz="165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de-CH" sz="165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libri" panose="020F0502020204030204"/>
                                <a:cs typeface="Calibri" panose="020F0502020204030204"/>
                              </a:rPr>
                            </m:ctrlPr>
                          </m:fPr>
                          <m:num>
                            <m:r>
                              <a:rPr lang="de-CH" sz="165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libri" panose="020F0502020204030204"/>
                                <a:cs typeface="Calibri" panose="020F0502020204030204"/>
                              </a:rPr>
                              <m:t>1−</m:t>
                            </m:r>
                            <m:r>
                              <a:rPr lang="de-CH" sz="165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libri" panose="020F0502020204030204"/>
                                <a:cs typeface="Calibri" panose="020F0502020204030204"/>
                              </a:rPr>
                              <m:t>𝑘</m:t>
                            </m:r>
                          </m:num>
                          <m:den>
                            <m:r>
                              <a:rPr lang="de-CH" sz="165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libri" panose="020F0502020204030204"/>
                                <a:cs typeface="Calibri" panose="020F0502020204030204"/>
                              </a:rPr>
                              <m:t>𝑘</m:t>
                            </m:r>
                            <m:r>
                              <a:rPr lang="de-CH" sz="165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libri" panose="020F0502020204030204"/>
                                <a:cs typeface="Calibri" panose="020F0502020204030204"/>
                              </a:rPr>
                              <m:t>_</m:t>
                            </m:r>
                            <m:r>
                              <a:rPr lang="de-CH" sz="165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libri" panose="020F0502020204030204"/>
                                <a:cs typeface="Calibri" panose="020F0502020204030204"/>
                              </a:rPr>
                              <m:t>𝑚𝑎𝑥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1650">
                    <a:solidFill>
                      <a:schemeClr val="accent1"/>
                    </a:solidFill>
                    <a:ea typeface="Calibri" panose="020F0502020204030204"/>
                    <a:cs typeface="Calibri" panose="020F0502020204030204"/>
                  </a:rPr>
                  <a:t> (with 50'000 Iterations )</a:t>
                </a:r>
              </a:p>
              <a:p>
                <a:pPr marL="742950" lvl="1" indent="-285750">
                  <a:buFont typeface="Courier New,monospace"/>
                  <a:buChar char="o"/>
                </a:pPr>
                <a:r>
                  <a:rPr lang="en-US" sz="1700">
                    <a:solidFill>
                      <a:schemeClr val="accent1"/>
                    </a:solidFill>
                    <a:ea typeface="Calibri" panose="020F0502020204030204"/>
                    <a:cs typeface="Calibri" panose="020F0502020204030204"/>
                  </a:rPr>
                  <a:t>Different Distributions</a:t>
                </a:r>
                <a:endParaRPr lang="en-US" sz="1700">
                  <a:solidFill>
                    <a:srgbClr val="000000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marL="742950" lvl="1" indent="-285750">
                  <a:buFont typeface="Courier New,monospace"/>
                  <a:buChar char="o"/>
                </a:pPr>
                <a:r>
                  <a:rPr lang="en-US" sz="1700">
                    <a:solidFill>
                      <a:schemeClr val="accent1"/>
                    </a:solidFill>
                    <a:ea typeface="Calibri" panose="020F0502020204030204"/>
                    <a:cs typeface="Calibri" panose="020F0502020204030204"/>
                  </a:rPr>
                  <a:t>Prioritizing higher vulnerability</a:t>
                </a:r>
                <a:endParaRPr lang="en-US"/>
              </a:p>
              <a:p>
                <a:pPr marL="742950" lvl="1" indent="-285750">
                  <a:buFont typeface="Courier New,monospace"/>
                  <a:buChar char="o"/>
                </a:pPr>
                <a:endParaRPr lang="en-US" sz="1700">
                  <a:solidFill>
                    <a:schemeClr val="accent1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marL="285750" indent="-285750"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CH" sz="165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</m:ctrlPr>
                      </m:sSubPr>
                      <m:e>
                        <m:r>
                          <a:rPr lang="de-CH" sz="165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𝑎</m:t>
                        </m:r>
                      </m:e>
                      <m:sub>
                        <m:r>
                          <a:rPr lang="de-CH" sz="165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𝑖</m:t>
                        </m:r>
                      </m:sub>
                    </m:sSub>
                    <m:r>
                      <a:rPr lang="de-CH" sz="165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anose="020F0502020204030204"/>
                        <a:cs typeface="Calibri" panose="020F0502020204030204"/>
                      </a:rPr>
                      <m:t>∗</m:t>
                    </m:r>
                    <m:sSub>
                      <m:sSubPr>
                        <m:ctrlPr>
                          <a:rPr lang="de-CH" sz="165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</m:ctrlPr>
                      </m:sSubPr>
                      <m:e>
                        <m:r>
                          <a:rPr lang="de-CH" sz="165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𝑥</m:t>
                        </m:r>
                      </m:e>
                      <m:sub>
                        <m:r>
                          <a:rPr lang="de-CH" sz="165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𝑖</m:t>
                        </m:r>
                      </m:sub>
                    </m:sSub>
                    <m:r>
                      <a:rPr lang="en-US" sz="165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anose="020F0502020204030204"/>
                        <a:cs typeface="Calibri" panose="020F0502020204030204"/>
                      </a:rPr>
                      <m:t>=</m:t>
                    </m:r>
                    <m:r>
                      <a:rPr lang="de-CH" sz="165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anose="020F0502020204030204"/>
                        <a:cs typeface="Calibri" panose="020F0502020204030204"/>
                      </a:rPr>
                      <m:t>𝑆</m:t>
                    </m:r>
                    <m:r>
                      <a:rPr lang="de-CH" sz="165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libri" panose="020F0502020204030204"/>
                        <a:cs typeface="Calibri" panose="020F0502020204030204"/>
                      </a:rPr>
                      <m:t> </m:t>
                    </m:r>
                  </m:oMath>
                </a14:m>
                <a:r>
                  <a:rPr lang="en-US" sz="1650">
                    <a:solidFill>
                      <a:schemeClr val="accent1"/>
                    </a:solidFill>
                    <a:ea typeface="Calibri" panose="020F0502020204030204"/>
                    <a:cs typeface="Calibri" panose="020F0502020204030204"/>
                  </a:rPr>
                  <a:t>-&gt; remaining satisfied</a:t>
                </a:r>
              </a:p>
              <a:p>
                <a:pPr marL="285750" indent="-285750">
                  <a:buFont typeface="Arial"/>
                  <a:buChar char="•"/>
                </a:pPr>
                <a:endParaRPr lang="en-US" sz="1650">
                  <a:solidFill>
                    <a:schemeClr val="accent1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marL="285750" indent="-285750">
                  <a:buFont typeface="Arial"/>
                  <a:buChar char="•"/>
                </a:pPr>
                <a:r>
                  <a:rPr lang="en-US" sz="1650">
                    <a:solidFill>
                      <a:schemeClr val="accent1"/>
                    </a:solidFill>
                    <a:ea typeface="Calibri" panose="020F0502020204030204"/>
                    <a:cs typeface="Calibri" panose="020F0502020204030204"/>
                  </a:rPr>
                  <a:t>Exploration High T / low T</a:t>
                </a:r>
              </a:p>
              <a:p>
                <a:pPr marL="285750" indent="-285750">
                  <a:buFont typeface="Arial"/>
                  <a:buChar char="•"/>
                </a:pPr>
                <a:endParaRPr lang="en-US" sz="1650">
                  <a:solidFill>
                    <a:schemeClr val="accent1"/>
                  </a:solidFill>
                  <a:ea typeface="Calibri" panose="020F0502020204030204"/>
                  <a:cs typeface="Calibri" panose="020F0502020204030204"/>
                </a:endParaRPr>
              </a:p>
              <a:p>
                <a:pPr marL="285750" indent="-285750">
                  <a:lnSpc>
                    <a:spcPts val="2392"/>
                  </a:lnSpc>
                  <a:buFont typeface="Arial"/>
                  <a:buChar char="•"/>
                </a:pPr>
                <a:endParaRPr lang="en-US" sz="1650">
                  <a:solidFill>
                    <a:schemeClr val="accent1"/>
                  </a:solidFill>
                  <a:ea typeface="Calibri" panose="020F0502020204030204"/>
                  <a:cs typeface="Calibri" panose="020F0502020204030204"/>
                </a:endParaRPr>
              </a:p>
            </p:txBody>
          </p:sp>
        </mc:Choice>
        <mc:Fallback xmlns="">
          <p:sp>
            <p:nvSpPr>
              <p:cNvPr id="9" name="Text 3">
                <a:extLst>
                  <a:ext uri="{FF2B5EF4-FFF2-40B4-BE49-F238E27FC236}">
                    <a16:creationId xmlns:a16="http://schemas.microsoft.com/office/drawing/2014/main" id="{9893A168-C920-C510-5438-CB82C0A97D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2157427"/>
                <a:ext cx="6266312" cy="1215720"/>
              </a:xfrm>
              <a:prstGeom prst="rect">
                <a:avLst/>
              </a:prstGeom>
              <a:blipFill>
                <a:blip r:embed="rId3"/>
                <a:stretch>
                  <a:fillRect l="-1947" b="-8944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8687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B9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0CB87A-DF60-B0EA-F60C-EEBC5304F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F2BE14E-1F0F-0190-4E42-7FED4CFA89DC}"/>
              </a:ext>
            </a:extLst>
          </p:cNvPr>
          <p:cNvSpPr/>
          <p:nvPr/>
        </p:nvSpPr>
        <p:spPr>
          <a:xfrm>
            <a:off x="-1" y="1719891"/>
            <a:ext cx="9146699" cy="34343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A06D25DE-EF9A-5B0A-E48C-DD6D07C939B1}"/>
              </a:ext>
            </a:extLst>
          </p:cNvPr>
          <p:cNvSpPr/>
          <p:nvPr/>
        </p:nvSpPr>
        <p:spPr>
          <a:xfrm>
            <a:off x="685800" y="1333440"/>
            <a:ext cx="6190920" cy="37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rmAutofit fontScale="2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5D982C72-4735-7E9C-7273-BE24E7D22E83}"/>
              </a:ext>
            </a:extLst>
          </p:cNvPr>
          <p:cNvSpPr/>
          <p:nvPr/>
        </p:nvSpPr>
        <p:spPr>
          <a:xfrm>
            <a:off x="685800" y="2000160"/>
            <a:ext cx="3250800" cy="2095200"/>
          </a:xfrm>
          <a:prstGeom prst="rect">
            <a:avLst/>
          </a:pr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22E12BC2-3CC2-59B3-EA33-FDB0C4F1B2C8}"/>
              </a:ext>
            </a:extLst>
          </p:cNvPr>
          <p:cNvSpPr/>
          <p:nvPr/>
        </p:nvSpPr>
        <p:spPr>
          <a:xfrm>
            <a:off x="4203720" y="2000160"/>
            <a:ext cx="3250800" cy="2095200"/>
          </a:xfrm>
          <a:prstGeom prst="rect">
            <a:avLst/>
          </a:pr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07C8D96C-DDF1-F6DE-D113-DD32ED17E49E}"/>
              </a:ext>
            </a:extLst>
          </p:cNvPr>
          <p:cNvSpPr/>
          <p:nvPr/>
        </p:nvSpPr>
        <p:spPr>
          <a:xfrm>
            <a:off x="7493040" y="361800"/>
            <a:ext cx="1098360" cy="124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ts val="4915"/>
              </a:lnSpc>
              <a:tabLst>
                <a:tab pos="0" algn="l"/>
              </a:tabLst>
            </a:pPr>
            <a:r>
              <a:rPr lang="en-US" sz="58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zh</a:t>
            </a:r>
            <a:endParaRPr lang="en-GB" sz="5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ts val="4915"/>
              </a:lnSpc>
              <a:tabLst>
                <a:tab pos="0" algn="l"/>
              </a:tabLst>
            </a:pPr>
            <a:r>
              <a:rPr lang="en-US" sz="58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aw</a:t>
            </a:r>
            <a:endParaRPr lang="en-GB" sz="5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1F54B743-ADDF-B505-72A2-E040004DBBB5}"/>
              </a:ext>
            </a:extLst>
          </p:cNvPr>
          <p:cNvSpPr/>
          <p:nvPr/>
        </p:nvSpPr>
        <p:spPr>
          <a:xfrm>
            <a:off x="685800" y="857160"/>
            <a:ext cx="2775305" cy="4252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2100">
                <a:solidFill>
                  <a:schemeClr val="bg1"/>
                </a:solidFill>
                <a:latin typeface="Arial"/>
                <a:ea typeface="Calibri"/>
                <a:cs typeface="Arial"/>
              </a:rPr>
              <a:t>Method Comparison</a:t>
            </a:r>
          </a:p>
          <a:p>
            <a:pPr>
              <a:lnSpc>
                <a:spcPts val="3149"/>
              </a:lnSpc>
              <a:tabLst>
                <a:tab pos="0" algn="l"/>
              </a:tabLst>
            </a:pPr>
            <a:endParaRPr lang="en-US" sz="21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0FA8E0FE-2214-29D4-ED0B-E740C7E019A0}"/>
              </a:ext>
            </a:extLst>
          </p:cNvPr>
          <p:cNvSpPr/>
          <p:nvPr/>
        </p:nvSpPr>
        <p:spPr>
          <a:xfrm>
            <a:off x="933480" y="2247840"/>
            <a:ext cx="2810520" cy="77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6075"/>
              </a:lnSpc>
              <a:tabLst>
                <a:tab pos="0" algn="l"/>
              </a:tabLst>
            </a:pPr>
            <a:r>
              <a:rPr lang="en-US" sz="4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01</a:t>
            </a:r>
            <a:endParaRPr lang="en-GB" sz="4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08095D2D-9C05-F87E-86C0-A0F123DAC48F}"/>
              </a:ext>
            </a:extLst>
          </p:cNvPr>
          <p:cNvSpPr/>
          <p:nvPr/>
        </p:nvSpPr>
        <p:spPr>
          <a:xfrm>
            <a:off x="933480" y="3095640"/>
            <a:ext cx="2810520" cy="31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2475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Metric one</a:t>
            </a:r>
            <a:endParaRPr lang="en-GB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056FD1C0-385E-6C32-B3DD-5F130ECBDBFB}"/>
              </a:ext>
            </a:extLst>
          </p:cNvPr>
          <p:cNvSpPr/>
          <p:nvPr/>
        </p:nvSpPr>
        <p:spPr>
          <a:xfrm>
            <a:off x="4451400" y="2247840"/>
            <a:ext cx="2810520" cy="77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6075"/>
              </a:lnSpc>
              <a:tabLst>
                <a:tab pos="0" algn="l"/>
              </a:tabLst>
            </a:pPr>
            <a:r>
              <a:rPr lang="en-US" sz="4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GB" sz="4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AE7CB2C5-3FBE-43B7-2BA3-FC83C14C9512}"/>
              </a:ext>
            </a:extLst>
          </p:cNvPr>
          <p:cNvSpPr/>
          <p:nvPr/>
        </p:nvSpPr>
        <p:spPr>
          <a:xfrm>
            <a:off x="4451400" y="3095640"/>
            <a:ext cx="2810520" cy="31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2475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Metric two</a:t>
            </a:r>
            <a:endParaRPr lang="en-GB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861610A-AA12-F186-D87C-9B11E66E5E03}"/>
              </a:ext>
            </a:extLst>
          </p:cNvPr>
          <p:cNvSpPr txBox="1"/>
          <p:nvPr/>
        </p:nvSpPr>
        <p:spPr>
          <a:xfrm>
            <a:off x="1307985" y="1767794"/>
            <a:ext cx="6185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/>
              <a:t>Method </a:t>
            </a:r>
            <a:r>
              <a:rPr lang="de-CH" err="1"/>
              <a:t>Comparison</a:t>
            </a:r>
            <a:r>
              <a:rPr lang="de-CH"/>
              <a:t>: Lagrange-Newton </a:t>
            </a:r>
            <a:r>
              <a:rPr lang="de-CH" err="1"/>
              <a:t>vs</a:t>
            </a:r>
            <a:r>
              <a:rPr lang="de-CH"/>
              <a:t> </a:t>
            </a:r>
            <a:r>
              <a:rPr lang="de-CH" err="1"/>
              <a:t>Simulated</a:t>
            </a:r>
            <a:r>
              <a:rPr lang="de-CH"/>
              <a:t> </a:t>
            </a:r>
            <a:r>
              <a:rPr lang="de-CH" err="1"/>
              <a:t>Annealing</a:t>
            </a:r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B4D4B92-0AD4-521F-8378-56C6734D31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49913"/>
          <a:stretch>
            <a:fillRect/>
          </a:stretch>
        </p:blipFill>
        <p:spPr>
          <a:xfrm>
            <a:off x="2625478" y="2228963"/>
            <a:ext cx="3893044" cy="2735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224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B9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D4D777-9D47-A383-2D2F-3DA8B6CCC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CBAC12-89E7-F9F7-F263-E64D40EAECEF}"/>
              </a:ext>
            </a:extLst>
          </p:cNvPr>
          <p:cNvSpPr/>
          <p:nvPr/>
        </p:nvSpPr>
        <p:spPr>
          <a:xfrm>
            <a:off x="-1" y="1719891"/>
            <a:ext cx="9146699" cy="34343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44F5B726-D956-1C20-2BE0-322B702D86A8}"/>
              </a:ext>
            </a:extLst>
          </p:cNvPr>
          <p:cNvSpPr/>
          <p:nvPr/>
        </p:nvSpPr>
        <p:spPr>
          <a:xfrm>
            <a:off x="685800" y="1333440"/>
            <a:ext cx="6190920" cy="37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rmAutofit fontScale="2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5B73F405-1E7E-16A1-2229-17634203CAA0}"/>
              </a:ext>
            </a:extLst>
          </p:cNvPr>
          <p:cNvSpPr/>
          <p:nvPr/>
        </p:nvSpPr>
        <p:spPr>
          <a:xfrm>
            <a:off x="685800" y="2000160"/>
            <a:ext cx="3250800" cy="2095200"/>
          </a:xfrm>
          <a:prstGeom prst="rect">
            <a:avLst/>
          </a:pr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FFD8FB64-034B-B11E-FC9D-D962A8DC0878}"/>
              </a:ext>
            </a:extLst>
          </p:cNvPr>
          <p:cNvSpPr/>
          <p:nvPr/>
        </p:nvSpPr>
        <p:spPr>
          <a:xfrm>
            <a:off x="4203720" y="2000160"/>
            <a:ext cx="3250800" cy="2095200"/>
          </a:xfrm>
          <a:prstGeom prst="rect">
            <a:avLst/>
          </a:pr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04DA6DE2-557B-9511-55B9-E44C963404B8}"/>
              </a:ext>
            </a:extLst>
          </p:cNvPr>
          <p:cNvSpPr/>
          <p:nvPr/>
        </p:nvSpPr>
        <p:spPr>
          <a:xfrm>
            <a:off x="7493040" y="361800"/>
            <a:ext cx="1098360" cy="124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ts val="4915"/>
              </a:lnSpc>
              <a:tabLst>
                <a:tab pos="0" algn="l"/>
              </a:tabLst>
            </a:pPr>
            <a:r>
              <a:rPr lang="en-US" sz="58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zh</a:t>
            </a:r>
            <a:endParaRPr lang="en-GB" sz="5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ts val="4915"/>
              </a:lnSpc>
              <a:tabLst>
                <a:tab pos="0" algn="l"/>
              </a:tabLst>
            </a:pPr>
            <a:r>
              <a:rPr lang="en-US" sz="58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aw</a:t>
            </a:r>
            <a:endParaRPr lang="en-GB" sz="5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90A56F7E-49CB-1C1E-3080-0C02232D39E2}"/>
              </a:ext>
            </a:extLst>
          </p:cNvPr>
          <p:cNvSpPr/>
          <p:nvPr/>
        </p:nvSpPr>
        <p:spPr>
          <a:xfrm>
            <a:off x="685800" y="857160"/>
            <a:ext cx="2775305" cy="4252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2100">
                <a:solidFill>
                  <a:schemeClr val="bg1"/>
                </a:solidFill>
                <a:latin typeface="Arial"/>
                <a:ea typeface="Calibri"/>
                <a:cs typeface="Arial"/>
              </a:rPr>
              <a:t>Method Comparison</a:t>
            </a:r>
          </a:p>
          <a:p>
            <a:pPr>
              <a:lnSpc>
                <a:spcPts val="3149"/>
              </a:lnSpc>
              <a:tabLst>
                <a:tab pos="0" algn="l"/>
              </a:tabLst>
            </a:pPr>
            <a:endParaRPr lang="en-US" sz="21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A3C1D423-83BC-0823-8AE5-B64034ECFC12}"/>
              </a:ext>
            </a:extLst>
          </p:cNvPr>
          <p:cNvSpPr/>
          <p:nvPr/>
        </p:nvSpPr>
        <p:spPr>
          <a:xfrm>
            <a:off x="933480" y="2247840"/>
            <a:ext cx="2810520" cy="77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6075"/>
              </a:lnSpc>
              <a:tabLst>
                <a:tab pos="0" algn="l"/>
              </a:tabLst>
            </a:pPr>
            <a:r>
              <a:rPr lang="en-US" sz="4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01</a:t>
            </a:r>
            <a:endParaRPr lang="en-GB" sz="4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D9A580B1-1C96-9BBE-9582-45BA46E937EF}"/>
              </a:ext>
            </a:extLst>
          </p:cNvPr>
          <p:cNvSpPr/>
          <p:nvPr/>
        </p:nvSpPr>
        <p:spPr>
          <a:xfrm>
            <a:off x="933480" y="3095640"/>
            <a:ext cx="2810520" cy="31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2475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Metric one</a:t>
            </a:r>
            <a:endParaRPr lang="en-GB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695BA788-89FB-A90E-E59C-C1B5999A3C4C}"/>
              </a:ext>
            </a:extLst>
          </p:cNvPr>
          <p:cNvSpPr/>
          <p:nvPr/>
        </p:nvSpPr>
        <p:spPr>
          <a:xfrm>
            <a:off x="4451400" y="2247840"/>
            <a:ext cx="2810520" cy="77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6075"/>
              </a:lnSpc>
              <a:tabLst>
                <a:tab pos="0" algn="l"/>
              </a:tabLst>
            </a:pPr>
            <a:r>
              <a:rPr lang="en-US" sz="4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GB" sz="4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45CDA467-14D6-8A79-E595-8B8CFC7D321F}"/>
              </a:ext>
            </a:extLst>
          </p:cNvPr>
          <p:cNvSpPr/>
          <p:nvPr/>
        </p:nvSpPr>
        <p:spPr>
          <a:xfrm>
            <a:off x="4451400" y="3095640"/>
            <a:ext cx="2810520" cy="31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2475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Metric two</a:t>
            </a:r>
            <a:endParaRPr lang="en-GB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" name="Grafik 1" descr="MethodComparison.png">
            <a:extLst>
              <a:ext uri="{FF2B5EF4-FFF2-40B4-BE49-F238E27FC236}">
                <a16:creationId xmlns:a16="http://schemas.microsoft.com/office/drawing/2014/main" id="{5DE9307D-B3F8-5699-FA25-2F01290738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t="10401" r="33899"/>
          <a:stretch>
            <a:fillRect/>
          </a:stretch>
        </p:blipFill>
        <p:spPr>
          <a:xfrm>
            <a:off x="1092529" y="2133600"/>
            <a:ext cx="6044251" cy="2798927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DD063A28-98C9-5725-438B-1428E6703B39}"/>
              </a:ext>
            </a:extLst>
          </p:cNvPr>
          <p:cNvSpPr txBox="1"/>
          <p:nvPr/>
        </p:nvSpPr>
        <p:spPr>
          <a:xfrm>
            <a:off x="1307985" y="1767794"/>
            <a:ext cx="6185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/>
              <a:t>Method </a:t>
            </a:r>
            <a:r>
              <a:rPr lang="de-CH" err="1"/>
              <a:t>Comparison</a:t>
            </a:r>
            <a:r>
              <a:rPr lang="de-CH"/>
              <a:t>: Lagrange-Newton </a:t>
            </a:r>
            <a:r>
              <a:rPr lang="de-CH" err="1"/>
              <a:t>vs</a:t>
            </a:r>
            <a:r>
              <a:rPr lang="de-CH"/>
              <a:t> </a:t>
            </a:r>
            <a:r>
              <a:rPr lang="de-CH" err="1"/>
              <a:t>Simulated</a:t>
            </a:r>
            <a:r>
              <a:rPr lang="de-CH"/>
              <a:t> </a:t>
            </a:r>
            <a:r>
              <a:rPr lang="de-CH" err="1"/>
              <a:t>Annealing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5554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B9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1567AF-E884-6F9F-07A5-8F548A378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0A7530-0698-FE66-BF27-66B4EFD42044}"/>
              </a:ext>
            </a:extLst>
          </p:cNvPr>
          <p:cNvSpPr/>
          <p:nvPr/>
        </p:nvSpPr>
        <p:spPr>
          <a:xfrm>
            <a:off x="-1" y="1719891"/>
            <a:ext cx="9146699" cy="34343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6D4736AD-AF3B-D0F6-E39E-BBB3536B9D14}"/>
              </a:ext>
            </a:extLst>
          </p:cNvPr>
          <p:cNvSpPr/>
          <p:nvPr/>
        </p:nvSpPr>
        <p:spPr>
          <a:xfrm>
            <a:off x="685800" y="1333440"/>
            <a:ext cx="6190920" cy="37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rmAutofit fontScale="2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2686E58B-DE8C-0BCE-2988-CBD71A848E1F}"/>
              </a:ext>
            </a:extLst>
          </p:cNvPr>
          <p:cNvSpPr/>
          <p:nvPr/>
        </p:nvSpPr>
        <p:spPr>
          <a:xfrm>
            <a:off x="685800" y="2000160"/>
            <a:ext cx="3250800" cy="2095200"/>
          </a:xfrm>
          <a:prstGeom prst="rect">
            <a:avLst/>
          </a:pr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9CE33F18-822F-84C7-B416-FE7BA5B2CCBA}"/>
              </a:ext>
            </a:extLst>
          </p:cNvPr>
          <p:cNvSpPr/>
          <p:nvPr/>
        </p:nvSpPr>
        <p:spPr>
          <a:xfrm>
            <a:off x="4203720" y="2000160"/>
            <a:ext cx="3250800" cy="2095200"/>
          </a:xfrm>
          <a:prstGeom prst="rect">
            <a:avLst/>
          </a:pr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B2434EB2-DBAC-E157-609A-4AC974A79598}"/>
              </a:ext>
            </a:extLst>
          </p:cNvPr>
          <p:cNvSpPr/>
          <p:nvPr/>
        </p:nvSpPr>
        <p:spPr>
          <a:xfrm>
            <a:off x="7493040" y="361800"/>
            <a:ext cx="1098360" cy="124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ts val="4915"/>
              </a:lnSpc>
              <a:tabLst>
                <a:tab pos="0" algn="l"/>
              </a:tabLst>
            </a:pPr>
            <a:r>
              <a:rPr lang="en-US" sz="58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zh</a:t>
            </a:r>
            <a:endParaRPr lang="en-GB" sz="5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ts val="4915"/>
              </a:lnSpc>
              <a:tabLst>
                <a:tab pos="0" algn="l"/>
              </a:tabLst>
            </a:pPr>
            <a:r>
              <a:rPr lang="en-US" sz="58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aw</a:t>
            </a:r>
            <a:endParaRPr lang="en-GB" sz="5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5EEE1528-BC76-FDAE-D443-F6C4766DDFDD}"/>
              </a:ext>
            </a:extLst>
          </p:cNvPr>
          <p:cNvSpPr/>
          <p:nvPr/>
        </p:nvSpPr>
        <p:spPr>
          <a:xfrm>
            <a:off x="685800" y="857160"/>
            <a:ext cx="2775305" cy="4252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2100">
                <a:solidFill>
                  <a:schemeClr val="bg1"/>
                </a:solidFill>
                <a:latin typeface="Arial"/>
                <a:ea typeface="Calibri"/>
                <a:cs typeface="Arial"/>
              </a:rPr>
              <a:t>Method Comparison</a:t>
            </a:r>
          </a:p>
          <a:p>
            <a:pPr>
              <a:lnSpc>
                <a:spcPts val="3149"/>
              </a:lnSpc>
              <a:tabLst>
                <a:tab pos="0" algn="l"/>
              </a:tabLst>
            </a:pPr>
            <a:endParaRPr lang="en-US" sz="21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0824FC2C-CCB6-A4F8-7F39-07DB9CA42412}"/>
              </a:ext>
            </a:extLst>
          </p:cNvPr>
          <p:cNvSpPr/>
          <p:nvPr/>
        </p:nvSpPr>
        <p:spPr>
          <a:xfrm>
            <a:off x="933480" y="2247840"/>
            <a:ext cx="2810520" cy="77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6075"/>
              </a:lnSpc>
              <a:tabLst>
                <a:tab pos="0" algn="l"/>
              </a:tabLst>
            </a:pPr>
            <a:r>
              <a:rPr lang="en-US" sz="4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01</a:t>
            </a:r>
            <a:endParaRPr lang="en-GB" sz="4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C0668599-3584-5742-7439-66E894FD0362}"/>
              </a:ext>
            </a:extLst>
          </p:cNvPr>
          <p:cNvSpPr/>
          <p:nvPr/>
        </p:nvSpPr>
        <p:spPr>
          <a:xfrm>
            <a:off x="933480" y="3095640"/>
            <a:ext cx="2810520" cy="31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2475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Metric one</a:t>
            </a:r>
            <a:endParaRPr lang="en-GB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591E2DC7-BC24-03EA-7CA7-62E1AD52729F}"/>
              </a:ext>
            </a:extLst>
          </p:cNvPr>
          <p:cNvSpPr/>
          <p:nvPr/>
        </p:nvSpPr>
        <p:spPr>
          <a:xfrm>
            <a:off x="4451400" y="2247840"/>
            <a:ext cx="2810520" cy="77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6075"/>
              </a:lnSpc>
              <a:tabLst>
                <a:tab pos="0" algn="l"/>
              </a:tabLst>
            </a:pPr>
            <a:r>
              <a:rPr lang="en-US" sz="4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GB" sz="4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7923FDD-91CA-B86B-DC8C-600FE4E3AE7E}"/>
              </a:ext>
            </a:extLst>
          </p:cNvPr>
          <p:cNvSpPr/>
          <p:nvPr/>
        </p:nvSpPr>
        <p:spPr>
          <a:xfrm>
            <a:off x="4451400" y="3095640"/>
            <a:ext cx="2810520" cy="31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2475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Metric two</a:t>
            </a:r>
            <a:endParaRPr lang="en-GB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8C578C7-5F32-AE26-07E8-934148E90222}"/>
              </a:ext>
            </a:extLst>
          </p:cNvPr>
          <p:cNvSpPr txBox="1"/>
          <p:nvPr/>
        </p:nvSpPr>
        <p:spPr>
          <a:xfrm>
            <a:off x="1307985" y="1767794"/>
            <a:ext cx="6185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/>
              <a:t>Method </a:t>
            </a:r>
            <a:r>
              <a:rPr lang="de-CH" err="1"/>
              <a:t>Comparison</a:t>
            </a:r>
            <a:r>
              <a:rPr lang="de-CH"/>
              <a:t>: Lagrange-Newton </a:t>
            </a:r>
            <a:r>
              <a:rPr lang="de-CH" err="1"/>
              <a:t>vs</a:t>
            </a:r>
            <a:r>
              <a:rPr lang="de-CH"/>
              <a:t> </a:t>
            </a:r>
            <a:r>
              <a:rPr lang="de-CH" err="1"/>
              <a:t>Simulated</a:t>
            </a:r>
            <a:r>
              <a:rPr lang="de-CH"/>
              <a:t> </a:t>
            </a:r>
            <a:r>
              <a:rPr lang="de-CH" err="1"/>
              <a:t>Annealing</a:t>
            </a:r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B6D80C8-0455-BD8E-96DA-62AC731C6E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00" y="2247457"/>
            <a:ext cx="7772400" cy="2735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075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B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0"/>
          <p:cNvSpPr/>
          <p:nvPr/>
        </p:nvSpPr>
        <p:spPr>
          <a:xfrm>
            <a:off x="685800" y="3114720"/>
            <a:ext cx="6190920" cy="37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rmAutofit fontScale="2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Text 1"/>
          <p:cNvSpPr/>
          <p:nvPr/>
        </p:nvSpPr>
        <p:spPr>
          <a:xfrm>
            <a:off x="7493040" y="361800"/>
            <a:ext cx="1098360" cy="124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ts val="4915"/>
              </a:lnSpc>
              <a:tabLst>
                <a:tab pos="0" algn="l"/>
              </a:tabLst>
            </a:pPr>
            <a:r>
              <a:rPr lang="en-US" sz="58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zh</a:t>
            </a:r>
            <a:endParaRPr lang="en-GB" sz="5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ts val="4915"/>
              </a:lnSpc>
              <a:tabLst>
                <a:tab pos="0" algn="l"/>
              </a:tabLst>
            </a:pPr>
            <a:r>
              <a:rPr lang="en-US" sz="585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aw</a:t>
            </a:r>
            <a:endParaRPr lang="en-GB" sz="5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"/>
          <p:cNvSpPr/>
          <p:nvPr/>
        </p:nvSpPr>
        <p:spPr>
          <a:xfrm>
            <a:off x="685800" y="2476440"/>
            <a:ext cx="135828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3149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Questions</a:t>
            </a:r>
            <a:endParaRPr lang="en-GB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3"/>
          <p:cNvSpPr/>
          <p:nvPr/>
        </p:nvSpPr>
        <p:spPr>
          <a:xfrm>
            <a:off x="685800" y="3267000"/>
            <a:ext cx="121824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ts val="2701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Thank you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3a86a5d-5714-4c9c-b50f-c72962407014" xsi:nil="true"/>
    <lcf76f155ced4ddcb4097134ff3c332f xmlns="c581cf06-f342-43bb-9c27-eb679bd1fe52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40D03D4FC8C944B961B26E5887A7530" ma:contentTypeVersion="10" ma:contentTypeDescription="Ein neues Dokument erstellen." ma:contentTypeScope="" ma:versionID="126c301135dc6938ecc350d383650e79">
  <xsd:schema xmlns:xsd="http://www.w3.org/2001/XMLSchema" xmlns:xs="http://www.w3.org/2001/XMLSchema" xmlns:p="http://schemas.microsoft.com/office/2006/metadata/properties" xmlns:ns2="c581cf06-f342-43bb-9c27-eb679bd1fe52" xmlns:ns3="c3a86a5d-5714-4c9c-b50f-c72962407014" targetNamespace="http://schemas.microsoft.com/office/2006/metadata/properties" ma:root="true" ma:fieldsID="4ee20aa7b3b1f848be7f6aaad3eecee1" ns2:_="" ns3:_="">
    <xsd:import namespace="c581cf06-f342-43bb-9c27-eb679bd1fe52"/>
    <xsd:import namespace="c3a86a5d-5714-4c9c-b50f-c7296240701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81cf06-f342-43bb-9c27-eb679bd1fe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Bildmarkierungen" ma:readOnly="false" ma:fieldId="{5cf76f15-5ced-4ddc-b409-7134ff3c332f}" ma:taxonomyMulti="true" ma:sspId="19e3ed14-352d-4aa2-a63b-0b06d7ab5fe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a86a5d-5714-4c9c-b50f-c72962407014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68c026a6-449f-48f8-a98c-51a26df328c6}" ma:internalName="TaxCatchAll" ma:showField="CatchAllData" ma:web="c3a86a5d-5714-4c9c-b50f-c7296240701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9219E33-B68F-48F4-B88D-D6FCBFCD0B0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0252B27-8475-41DD-94D0-7CFA7F817E6D}">
  <ds:schemaRefs>
    <ds:schemaRef ds:uri="c3a86a5d-5714-4c9c-b50f-c72962407014"/>
    <ds:schemaRef ds:uri="c581cf06-f342-43bb-9c27-eb679bd1fe5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DEE7492-68DF-4669-833A-A8185D177400}">
  <ds:schemaRefs>
    <ds:schemaRef ds:uri="c3a86a5d-5714-4c9c-b50f-c72962407014"/>
    <ds:schemaRef ds:uri="c581cf06-f342-43bb-9c27-eb679bd1fe5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(16:9)</PresentationFormat>
  <Slides>10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dc:description/>
  <cp:revision>2</cp:revision>
  <dcterms:created xsi:type="dcterms:W3CDTF">2026-04-01T19:15:37Z</dcterms:created>
  <dcterms:modified xsi:type="dcterms:W3CDTF">2026-04-15T07:56:35Z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</vt:i4>
  </property>
  <property fmtid="{D5CDD505-2E9C-101B-9397-08002B2CF9AE}" pid="3" name="PresentationFormat">
    <vt:lpwstr>On-screen Show (16:9)</vt:lpwstr>
  </property>
  <property fmtid="{D5CDD505-2E9C-101B-9397-08002B2CF9AE}" pid="4" name="Slides">
    <vt:i4>5</vt:i4>
  </property>
  <property fmtid="{D5CDD505-2E9C-101B-9397-08002B2CF9AE}" pid="5" name="ContentTypeId">
    <vt:lpwstr>0x010100B40D03D4FC8C944B961B26E5887A7530</vt:lpwstr>
  </property>
  <property fmtid="{D5CDD505-2E9C-101B-9397-08002B2CF9AE}" pid="6" name="MediaServiceImageTags">
    <vt:lpwstr/>
  </property>
</Properties>
</file>